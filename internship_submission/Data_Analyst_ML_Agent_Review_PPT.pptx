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A1F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10515600" cy="182880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algn="l" indent="0" marL="0">
              <a:buNone/>
              <a:defRPr lang="en-US" sz="3000" b="1" dirty="0">
                <a:solidFill>
                  <a:srgbClr val="1A1F36"/>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640080" y="1417320"/>
            <a:ext cx="10881360" cy="5074920"/>
          </a:xfrm>
          <a:prstGeom prst="rect">
            <a:avLst/>
          </a:prstGeom>
          <a:noFill/>
          <a:ln/>
        </p:spPr>
        <p:txBody>
          <a:bodyPr wrap="square" rtlCol="0"/>
          <a:lstStyle>
            <a:lvl1pPr algn="l" indent="0" marL="0">
              <a:buNone/>
              <a:defRPr lang="en-US" sz="1600" dirty="0">
                <a:solidFill>
                  <a:srgbClr val="1A1F36"/>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4" name="Text 0"/>
          <p:cNvSpPr/>
          <p:nvPr/>
        </p:nvSpPr>
        <p:spPr>
          <a:xfrm>
            <a:off x="640080" y="6510528"/>
            <a:ext cx="7315200" cy="274320"/>
          </a:xfrm>
          <a:prstGeom prst="rect">
            <a:avLst/>
          </a:prstGeom>
          <a:noFill/>
          <a:ln/>
        </p:spPr>
        <p:txBody>
          <a:bodyPr wrap="square" rtlCol="0" anchor="ctr"/>
          <a:lstStyle/>
          <a:p>
            <a:pPr indent="0" marL="0">
              <a:buNone/>
            </a:pPr>
            <a:r>
              <a:rPr lang="en-US" sz="1000" dirty="0">
                <a:solidFill>
                  <a:srgbClr val="8B92B3"/>
                </a:solidFill>
                <a:latin typeface="Calibri" pitchFamily="34" charset="0"/>
                <a:ea typeface="Calibri" pitchFamily="34" charset="-122"/>
                <a:cs typeface="Calibri" pitchFamily="34" charset="-120"/>
              </a:rPr>
              <a:t>GMR Institute of Technology, Rajam | Internship Review</a:t>
            </a:r>
            <a:endParaRPr lang="en-US" sz="1000" dirty="0"/>
          </a:p>
        </p:txBody>
      </p:sp>
      <p:sp>
        <p:nvSpPr>
          <p:cNvPr id="5" name="Text 1"/>
          <p:cNvSpPr/>
          <p:nvPr/>
        </p:nvSpPr>
        <p:spPr>
          <a:xfrm>
            <a:off x="10972800" y="6510528"/>
            <a:ext cx="548640" cy="274320"/>
          </a:xfrm>
          <a:prstGeom prst="rect">
            <a:avLst/>
          </a:prstGeom>
          <a:noFill/>
          <a:ln/>
        </p:spPr>
        <p:txBody>
          <a:bodyPr wrap="square" rtlCol="0"/>
          <a:lstStyle/>
          <a:p>
            <a:pPr algn="r" indent="0" marL="0">
              <a:buNone/>
            </a:pPr>
            <a:endParaRPr lang="en-US" sz="10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640080"/>
            <a:ext cx="10515600" cy="457200"/>
          </a:xfrm>
          <a:prstGeom prst="rect">
            <a:avLst/>
          </a:prstGeom>
          <a:noFill/>
          <a:ln/>
        </p:spPr>
        <p:txBody>
          <a:bodyPr wrap="square" rtlCol="0" anchor="ctr"/>
          <a:lstStyle/>
          <a:p>
            <a:pPr indent="0" marL="0">
              <a:buNone/>
            </a:pPr>
            <a:r>
              <a:rPr lang="en-US" sz="1400" spc="200" kern="0" dirty="0">
                <a:solidFill>
                  <a:srgbClr val="A5B4FC"/>
                </a:solidFill>
                <a:latin typeface="Calibri" pitchFamily="34" charset="0"/>
                <a:ea typeface="Calibri" pitchFamily="34" charset="-122"/>
                <a:cs typeface="Calibri" pitchFamily="34" charset="-120"/>
              </a:rPr>
              <a:t>GMR INSTITUTE OF TECHNOLOGY, RAJAM</a:t>
            </a:r>
            <a:endParaRPr lang="en-US" sz="1400" dirty="0"/>
          </a:p>
        </p:txBody>
      </p:sp>
      <p:sp>
        <p:nvSpPr>
          <p:cNvPr id="3" name="Text 1"/>
          <p:cNvSpPr txBox="1"/>
          <p:nvPr/>
        </p:nvSpPr>
        <p:spPr>
          <a:xfrm>
            <a:off x="822960" y="1005840"/>
            <a:ext cx="10515600" cy="365760"/>
          </a:xfrm>
          <a:prstGeom prst="rect">
            <a:avLst/>
          </a:prstGeom>
          <a:noFill/>
          <a:ln/>
        </p:spPr>
        <p:txBody>
          <a:bodyPr wrap="square" rtlCol="0" anchor="ctr"/>
          <a:lstStyle/>
          <a:p>
            <a:pPr indent="0" marL="0">
              <a:buNone/>
            </a:pPr>
            <a:r>
              <a:rPr lang="en-US" sz="1300" dirty="0">
                <a:solidFill>
                  <a:srgbClr val="8B92B3"/>
                </a:solidFill>
                <a:latin typeface="Calibri" pitchFamily="34" charset="0"/>
                <a:ea typeface="Calibri" pitchFamily="34" charset="-122"/>
                <a:cs typeface="Calibri" pitchFamily="34" charset="-120"/>
              </a:rPr>
              <a:t>Andhra Pradesh, India</a:t>
            </a:r>
            <a:endParaRPr lang="en-US" sz="1300" dirty="0"/>
          </a:p>
        </p:txBody>
      </p:sp>
      <p:sp>
        <p:nvSpPr>
          <p:cNvPr id="4" name="Text 2"/>
          <p:cNvSpPr txBox="1"/>
          <p:nvPr/>
        </p:nvSpPr>
        <p:spPr>
          <a:xfrm>
            <a:off x="822960" y="1828800"/>
            <a:ext cx="1051560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Full Semester Internship — Final Review</a:t>
            </a:r>
            <a:endParaRPr lang="en-US" sz="1600" dirty="0"/>
          </a:p>
        </p:txBody>
      </p:sp>
      <p:sp>
        <p:nvSpPr>
          <p:cNvPr id="5" name="Text 0"/>
          <p:cNvSpPr/>
          <p:nvPr>
            <p:ph idx="100" type="title" hasCustomPrompt="1"/>
          </p:nvPr>
        </p:nvSpPr>
        <p:spPr>
          <a:xfrm>
            <a:off x="822960" y="2377440"/>
            <a:ext cx="10515600" cy="1828800"/>
          </a:xfrm>
          <a:prstGeom prst="rect">
            <a:avLst/>
          </a:prstGeom>
          <a:noFill/>
          <a:ln/>
        </p:spPr>
        <p:txBody>
          <a:bodyPr wrap="square"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Data Analyst + ML Agent</a:t>
            </a:r>
            <a:endParaRPr lang="en-US" sz="4400" dirty="0"/>
          </a:p>
        </p:txBody>
      </p:sp>
      <p:sp>
        <p:nvSpPr>
          <p:cNvPr id="6" name="Text 4"/>
          <p:cNvSpPr txBox="1"/>
          <p:nvPr/>
        </p:nvSpPr>
        <p:spPr>
          <a:xfrm>
            <a:off x="822960" y="4160520"/>
            <a:ext cx="10058400" cy="548640"/>
          </a:xfrm>
          <a:prstGeom prst="rect">
            <a:avLst/>
          </a:prstGeom>
          <a:noFill/>
          <a:ln/>
        </p:spPr>
        <p:txBody>
          <a:bodyPr wrap="square" rtlCol="0" anchor="ctr"/>
          <a:lstStyle/>
          <a:p>
            <a:pPr indent="0" marL="0">
              <a:buNone/>
            </a:pPr>
            <a:r>
              <a:rPr lang="en-US" sz="1900" i="1" dirty="0">
                <a:solidFill>
                  <a:srgbClr val="A5B4FC"/>
                </a:solidFill>
                <a:latin typeface="Calibri" pitchFamily="34" charset="0"/>
                <a:ea typeface="Calibri" pitchFamily="34" charset="-122"/>
                <a:cs typeface="Calibri" pitchFamily="34" charset="-120"/>
              </a:rPr>
              <a:t>An Agentic AI-Based Data Analysis and Machine Learning Assistant</a:t>
            </a:r>
            <a:endParaRPr lang="en-US" sz="1900" dirty="0"/>
          </a:p>
        </p:txBody>
      </p:sp>
      <p:sp>
        <p:nvSpPr>
          <p:cNvPr id="7" name="Shape 5"/>
          <p:cNvSpPr/>
          <p:nvPr/>
        </p:nvSpPr>
        <p:spPr>
          <a:xfrm>
            <a:off x="0" y="5852160"/>
            <a:ext cx="12191695" cy="1005840"/>
          </a:xfrm>
          <a:prstGeom prst="rect">
            <a:avLst/>
          </a:prstGeom>
          <a:solidFill>
            <a:srgbClr val="151A2E"/>
          </a:solidFill>
          <a:ln/>
        </p:spPr>
      </p:sp>
      <p:sp>
        <p:nvSpPr>
          <p:cNvPr id="8" name="Text 6"/>
          <p:cNvSpPr txBox="1"/>
          <p:nvPr/>
        </p:nvSpPr>
        <p:spPr>
          <a:xfrm>
            <a:off x="822960" y="5989320"/>
            <a:ext cx="50292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Dunnapapagari Sarathkumar</a:t>
            </a:r>
            <a:endParaRPr lang="en-US" sz="1600" dirty="0"/>
          </a:p>
        </p:txBody>
      </p:sp>
      <p:sp>
        <p:nvSpPr>
          <p:cNvPr id="9" name="Text 7"/>
          <p:cNvSpPr txBox="1"/>
          <p:nvPr/>
        </p:nvSpPr>
        <p:spPr>
          <a:xfrm>
            <a:off x="822960" y="6327648"/>
            <a:ext cx="5029200" cy="365760"/>
          </a:xfrm>
          <a:prstGeom prst="rect">
            <a:avLst/>
          </a:prstGeom>
          <a:noFill/>
          <a:ln/>
        </p:spPr>
        <p:txBody>
          <a:bodyPr wrap="square" rtlCol="0" anchor="ctr"/>
          <a:lstStyle/>
          <a:p>
            <a:pPr indent="0" marL="0">
              <a:buNone/>
            </a:pPr>
            <a:r>
              <a:rPr lang="en-US" sz="1300" dirty="0">
                <a:solidFill>
                  <a:srgbClr val="8B92B3"/>
                </a:solidFill>
                <a:latin typeface="Calibri" pitchFamily="34" charset="0"/>
                <a:ea typeface="Calibri" pitchFamily="34" charset="-122"/>
                <a:cs typeface="Calibri" pitchFamily="34" charset="-120"/>
              </a:rPr>
              <a:t>25341D5803  |  CSE, 3rd Semester</a:t>
            </a:r>
            <a:endParaRPr lang="en-US" sz="1300" dirty="0"/>
          </a:p>
        </p:txBody>
      </p:sp>
      <p:sp>
        <p:nvSpPr>
          <p:cNvPr id="10" name="Text 8"/>
          <p:cNvSpPr txBox="1"/>
          <p:nvPr/>
        </p:nvSpPr>
        <p:spPr>
          <a:xfrm>
            <a:off x="6858000" y="5989320"/>
            <a:ext cx="4572000" cy="365760"/>
          </a:xfrm>
          <a:prstGeom prst="rect">
            <a:avLst/>
          </a:prstGeom>
          <a:noFill/>
          <a:ln/>
        </p:spPr>
        <p:txBody>
          <a:bodyPr wrap="square" rtlCol="0" anchor="ctr"/>
          <a:lstStyle/>
          <a:p>
            <a:pPr algn="r" indent="0" marL="0">
              <a:buNone/>
            </a:pPr>
            <a:r>
              <a:rPr lang="en-US" sz="1300" dirty="0">
                <a:solidFill>
                  <a:srgbClr val="8B92B3"/>
                </a:solidFill>
                <a:latin typeface="Calibri" pitchFamily="34" charset="0"/>
                <a:ea typeface="Calibri" pitchFamily="34" charset="-122"/>
                <a:cs typeface="Calibri" pitchFamily="34" charset="-120"/>
              </a:rPr>
              <a:t>Internship at Recruitwire Services</a:t>
            </a:r>
            <a:endParaRPr lang="en-US" sz="1300" dirty="0"/>
          </a:p>
        </p:txBody>
      </p:sp>
      <p:sp>
        <p:nvSpPr>
          <p:cNvPr id="11" name="Text 9"/>
          <p:cNvSpPr txBox="1"/>
          <p:nvPr/>
        </p:nvSpPr>
        <p:spPr>
          <a:xfrm>
            <a:off x="6858000" y="6327648"/>
            <a:ext cx="4572000" cy="365760"/>
          </a:xfrm>
          <a:prstGeom prst="rect">
            <a:avLst/>
          </a:prstGeom>
          <a:noFill/>
          <a:ln/>
        </p:spPr>
        <p:txBody>
          <a:bodyPr wrap="square" rtlCol="0" anchor="ctr"/>
          <a:lstStyle/>
          <a:p>
            <a:pPr algn="r" indent="0" marL="0">
              <a:buNone/>
            </a:pPr>
            <a:r>
              <a:rPr lang="en-US" sz="1300" dirty="0">
                <a:solidFill>
                  <a:srgbClr val="8B92B3"/>
                </a:solidFill>
                <a:latin typeface="Calibri" pitchFamily="34" charset="0"/>
                <a:ea typeface="Calibri" pitchFamily="34" charset="-122"/>
                <a:cs typeface="Calibri" pitchFamily="34" charset="-120"/>
              </a:rPr>
              <a:t>10 Aug – 3 Sept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Project — Final Review</a:t>
            </a:r>
            <a:endParaRPr lang="en-US" sz="3000" dirty="0"/>
          </a:p>
        </p:txBody>
      </p:sp>
      <p:sp>
        <p:nvSpPr>
          <p:cNvPr id="3" name="Shape 1"/>
          <p:cNvSpPr/>
          <p:nvPr/>
        </p:nvSpPr>
        <p:spPr>
          <a:xfrm>
            <a:off x="640080" y="1737360"/>
            <a:ext cx="10881360" cy="713232"/>
          </a:xfrm>
          <a:prstGeom prst="rect">
            <a:avLst/>
          </a:prstGeom>
          <a:solidFill>
            <a:srgbClr val="F2F3FA"/>
          </a:solidFill>
          <a:ln/>
        </p:spPr>
      </p:sp>
      <p:sp>
        <p:nvSpPr>
          <p:cNvPr id="4" name="Text 2"/>
          <p:cNvSpPr txBox="1"/>
          <p:nvPr/>
        </p:nvSpPr>
        <p:spPr>
          <a:xfrm>
            <a:off x="868680" y="1737360"/>
            <a:ext cx="3017520" cy="713232"/>
          </a:xfrm>
          <a:prstGeom prst="rect">
            <a:avLst/>
          </a:prstGeom>
          <a:noFill/>
          <a:ln/>
        </p:spPr>
        <p:txBody>
          <a:bodyPr wrap="square"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Title of the Project</a:t>
            </a:r>
            <a:endParaRPr lang="en-US" sz="1400" dirty="0"/>
          </a:p>
        </p:txBody>
      </p:sp>
      <p:sp>
        <p:nvSpPr>
          <p:cNvPr id="5" name="Text 3"/>
          <p:cNvSpPr txBox="1"/>
          <p:nvPr/>
        </p:nvSpPr>
        <p:spPr>
          <a:xfrm>
            <a:off x="3931920" y="1737360"/>
            <a:ext cx="7406640" cy="713232"/>
          </a:xfrm>
          <a:prstGeom prst="rect">
            <a:avLst/>
          </a:prstGeom>
          <a:noFill/>
          <a:ln/>
        </p:spPr>
        <p:txBody>
          <a:bodyPr wrap="square" rtlCol="0" anchor="ctr"/>
          <a:lstStyle/>
          <a:p>
            <a:pPr indent="0" marL="0">
              <a:buNone/>
            </a:pPr>
            <a:r>
              <a:rPr lang="en-US" sz="1400" dirty="0">
                <a:solidFill>
                  <a:srgbClr val="1A1F36"/>
                </a:solidFill>
                <a:latin typeface="Calibri" pitchFamily="34" charset="0"/>
                <a:ea typeface="Calibri" pitchFamily="34" charset="-122"/>
                <a:cs typeface="Calibri" pitchFamily="34" charset="-120"/>
              </a:rPr>
              <a:t>Data Analyst + ML Agent — An Agentic AI-Based Data Analysis and Machine Learning Assistant</a:t>
            </a:r>
            <a:endParaRPr lang="en-US" sz="1400" dirty="0"/>
          </a:p>
        </p:txBody>
      </p:sp>
      <p:sp>
        <p:nvSpPr>
          <p:cNvPr id="6" name="Shape 4"/>
          <p:cNvSpPr/>
          <p:nvPr/>
        </p:nvSpPr>
        <p:spPr>
          <a:xfrm>
            <a:off x="640080" y="2560320"/>
            <a:ext cx="10881360" cy="713232"/>
          </a:xfrm>
          <a:prstGeom prst="rect">
            <a:avLst/>
          </a:prstGeom>
          <a:solidFill>
            <a:srgbClr val="F2F3FA"/>
          </a:solidFill>
          <a:ln/>
        </p:spPr>
      </p:sp>
      <p:sp>
        <p:nvSpPr>
          <p:cNvPr id="7" name="Text 5"/>
          <p:cNvSpPr txBox="1"/>
          <p:nvPr/>
        </p:nvSpPr>
        <p:spPr>
          <a:xfrm>
            <a:off x="868680" y="2560320"/>
            <a:ext cx="3017520" cy="713232"/>
          </a:xfrm>
          <a:prstGeom prst="rect">
            <a:avLst/>
          </a:prstGeom>
          <a:noFill/>
          <a:ln/>
        </p:spPr>
        <p:txBody>
          <a:bodyPr wrap="square"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Organization</a:t>
            </a:r>
            <a:endParaRPr lang="en-US" sz="1400" dirty="0"/>
          </a:p>
        </p:txBody>
      </p:sp>
      <p:sp>
        <p:nvSpPr>
          <p:cNvPr id="8" name="Text 6"/>
          <p:cNvSpPr txBox="1"/>
          <p:nvPr/>
        </p:nvSpPr>
        <p:spPr>
          <a:xfrm>
            <a:off x="3931920" y="2560320"/>
            <a:ext cx="7406640" cy="713232"/>
          </a:xfrm>
          <a:prstGeom prst="rect">
            <a:avLst/>
          </a:prstGeom>
          <a:noFill/>
          <a:ln/>
        </p:spPr>
        <p:txBody>
          <a:bodyPr wrap="square" rtlCol="0" anchor="ctr"/>
          <a:lstStyle/>
          <a:p>
            <a:pPr indent="0" marL="0">
              <a:buNone/>
            </a:pPr>
            <a:r>
              <a:rPr lang="en-US" sz="1400" dirty="0">
                <a:solidFill>
                  <a:srgbClr val="1A1F36"/>
                </a:solidFill>
                <a:latin typeface="Calibri" pitchFamily="34" charset="0"/>
                <a:ea typeface="Calibri" pitchFamily="34" charset="-122"/>
                <a:cs typeface="Calibri" pitchFamily="34" charset="-120"/>
              </a:rPr>
              <a:t>Recruitwire Services</a:t>
            </a:r>
            <a:endParaRPr lang="en-US" sz="1400" dirty="0"/>
          </a:p>
        </p:txBody>
      </p:sp>
      <p:sp>
        <p:nvSpPr>
          <p:cNvPr id="9" name="Shape 7"/>
          <p:cNvSpPr/>
          <p:nvPr/>
        </p:nvSpPr>
        <p:spPr>
          <a:xfrm>
            <a:off x="640080" y="3383280"/>
            <a:ext cx="10881360" cy="713232"/>
          </a:xfrm>
          <a:prstGeom prst="rect">
            <a:avLst/>
          </a:prstGeom>
          <a:solidFill>
            <a:srgbClr val="F2F3FA"/>
          </a:solidFill>
          <a:ln/>
        </p:spPr>
      </p:sp>
      <p:sp>
        <p:nvSpPr>
          <p:cNvPr id="10" name="Text 8"/>
          <p:cNvSpPr txBox="1"/>
          <p:nvPr/>
        </p:nvSpPr>
        <p:spPr>
          <a:xfrm>
            <a:off x="868680" y="3383280"/>
            <a:ext cx="3017520" cy="713232"/>
          </a:xfrm>
          <a:prstGeom prst="rect">
            <a:avLst/>
          </a:prstGeom>
          <a:noFill/>
          <a:ln/>
        </p:spPr>
        <p:txBody>
          <a:bodyPr wrap="square"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Presented By</a:t>
            </a:r>
            <a:endParaRPr lang="en-US" sz="1400" dirty="0"/>
          </a:p>
        </p:txBody>
      </p:sp>
      <p:sp>
        <p:nvSpPr>
          <p:cNvPr id="11" name="Text 9"/>
          <p:cNvSpPr txBox="1"/>
          <p:nvPr/>
        </p:nvSpPr>
        <p:spPr>
          <a:xfrm>
            <a:off x="3931920" y="3383280"/>
            <a:ext cx="7406640" cy="713232"/>
          </a:xfrm>
          <a:prstGeom prst="rect">
            <a:avLst/>
          </a:prstGeom>
          <a:noFill/>
          <a:ln/>
        </p:spPr>
        <p:txBody>
          <a:bodyPr wrap="square" rtlCol="0" anchor="ctr"/>
          <a:lstStyle/>
          <a:p>
            <a:pPr indent="0" marL="0">
              <a:buNone/>
            </a:pPr>
            <a:r>
              <a:rPr lang="en-US" sz="1400" dirty="0">
                <a:solidFill>
                  <a:srgbClr val="1A1F36"/>
                </a:solidFill>
                <a:latin typeface="Calibri" pitchFamily="34" charset="0"/>
                <a:ea typeface="Calibri" pitchFamily="34" charset="-122"/>
                <a:cs typeface="Calibri" pitchFamily="34" charset="-120"/>
              </a:rPr>
              <a:t>Dunnapapagari Sarathkumar  (25341D5803), CSE, 3rd Semester</a:t>
            </a:r>
            <a:endParaRPr lang="en-US" sz="1400" dirty="0"/>
          </a:p>
        </p:txBody>
      </p:sp>
      <p:sp>
        <p:nvSpPr>
          <p:cNvPr id="12" name="Shape 10"/>
          <p:cNvSpPr/>
          <p:nvPr/>
        </p:nvSpPr>
        <p:spPr>
          <a:xfrm>
            <a:off x="640080" y="4206240"/>
            <a:ext cx="10881360" cy="713232"/>
          </a:xfrm>
          <a:prstGeom prst="rect">
            <a:avLst/>
          </a:prstGeom>
          <a:solidFill>
            <a:srgbClr val="F2F3FA"/>
          </a:solidFill>
          <a:ln/>
        </p:spPr>
      </p:sp>
      <p:sp>
        <p:nvSpPr>
          <p:cNvPr id="13" name="Text 11"/>
          <p:cNvSpPr txBox="1"/>
          <p:nvPr/>
        </p:nvSpPr>
        <p:spPr>
          <a:xfrm>
            <a:off x="868680" y="4206240"/>
            <a:ext cx="3017520" cy="713232"/>
          </a:xfrm>
          <a:prstGeom prst="rect">
            <a:avLst/>
          </a:prstGeom>
          <a:noFill/>
          <a:ln/>
        </p:spPr>
        <p:txBody>
          <a:bodyPr wrap="square"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Faculty Supervisor</a:t>
            </a:r>
            <a:endParaRPr lang="en-US" sz="1400" dirty="0"/>
          </a:p>
        </p:txBody>
      </p:sp>
      <p:sp>
        <p:nvSpPr>
          <p:cNvPr id="14" name="Text 12"/>
          <p:cNvSpPr txBox="1"/>
          <p:nvPr/>
        </p:nvSpPr>
        <p:spPr>
          <a:xfrm>
            <a:off x="3931920" y="4206240"/>
            <a:ext cx="7406640" cy="713232"/>
          </a:xfrm>
          <a:prstGeom prst="rect">
            <a:avLst/>
          </a:prstGeom>
          <a:noFill/>
          <a:ln/>
        </p:spPr>
        <p:txBody>
          <a:bodyPr wrap="square" rtlCol="0" anchor="ctr"/>
          <a:lstStyle/>
          <a:p>
            <a:pPr indent="0" marL="0">
              <a:buNone/>
            </a:pPr>
            <a:r>
              <a:rPr lang="en-US" sz="1400" dirty="0">
                <a:solidFill>
                  <a:srgbClr val="1A1F36"/>
                </a:solidFill>
                <a:latin typeface="Calibri" pitchFamily="34" charset="0"/>
                <a:ea typeface="Calibri" pitchFamily="34" charset="-122"/>
                <a:cs typeface="Calibri" pitchFamily="34" charset="-120"/>
              </a:rPr>
              <a:t>Ravi Shankar, Dept. of CSE, GMR Institute of Technology</a:t>
            </a:r>
            <a:endParaRPr lang="en-US" sz="1400" dirty="0"/>
          </a:p>
        </p:txBody>
      </p:sp>
      <p:sp>
        <p:nvSpPr>
          <p:cNvPr id="15" name="Shape 13"/>
          <p:cNvSpPr/>
          <p:nvPr/>
        </p:nvSpPr>
        <p:spPr>
          <a:xfrm>
            <a:off x="640080" y="5029200"/>
            <a:ext cx="10881360" cy="713232"/>
          </a:xfrm>
          <a:prstGeom prst="rect">
            <a:avLst/>
          </a:prstGeom>
          <a:solidFill>
            <a:srgbClr val="F2F3FA"/>
          </a:solidFill>
          <a:ln/>
        </p:spPr>
      </p:sp>
      <p:sp>
        <p:nvSpPr>
          <p:cNvPr id="16" name="Text 14"/>
          <p:cNvSpPr txBox="1"/>
          <p:nvPr/>
        </p:nvSpPr>
        <p:spPr>
          <a:xfrm>
            <a:off x="868680" y="5029200"/>
            <a:ext cx="3017520" cy="713232"/>
          </a:xfrm>
          <a:prstGeom prst="rect">
            <a:avLst/>
          </a:prstGeom>
          <a:noFill/>
          <a:ln/>
        </p:spPr>
        <p:txBody>
          <a:bodyPr wrap="square"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Industry Supervisor</a:t>
            </a:r>
            <a:endParaRPr lang="en-US" sz="1400" dirty="0"/>
          </a:p>
        </p:txBody>
      </p:sp>
      <p:sp>
        <p:nvSpPr>
          <p:cNvPr id="17" name="Text 15"/>
          <p:cNvSpPr txBox="1"/>
          <p:nvPr/>
        </p:nvSpPr>
        <p:spPr>
          <a:xfrm>
            <a:off x="3931920" y="5029200"/>
            <a:ext cx="7406640" cy="713232"/>
          </a:xfrm>
          <a:prstGeom prst="rect">
            <a:avLst/>
          </a:prstGeom>
          <a:noFill/>
          <a:ln/>
        </p:spPr>
        <p:txBody>
          <a:bodyPr wrap="square" rtlCol="0" anchor="ctr"/>
          <a:lstStyle/>
          <a:p>
            <a:pPr indent="0" marL="0">
              <a:buNone/>
            </a:pPr>
            <a:r>
              <a:rPr lang="en-US" sz="1400" dirty="0">
                <a:solidFill>
                  <a:srgbClr val="1A1F36"/>
                </a:solidFill>
                <a:latin typeface="Calibri" pitchFamily="34" charset="0"/>
                <a:ea typeface="Calibri" pitchFamily="34" charset="-122"/>
                <a:cs typeface="Calibri" pitchFamily="34" charset="-120"/>
              </a:rPr>
              <a:t>M Vyshnavi, Program Manager, Recruitwire Services</a:t>
            </a:r>
            <a:endParaRPr lang="en-US" sz="1400" dirty="0"/>
          </a:p>
        </p:txBody>
      </p:sp>
      <p:sp>
        <p:nvSpPr>
          <p:cNvPr id="18" name="Shape 16"/>
          <p:cNvSpPr/>
          <p:nvPr/>
        </p:nvSpPr>
        <p:spPr>
          <a:xfrm>
            <a:off x="640080" y="5852160"/>
            <a:ext cx="10881360" cy="713232"/>
          </a:xfrm>
          <a:prstGeom prst="rect">
            <a:avLst/>
          </a:prstGeom>
          <a:solidFill>
            <a:srgbClr val="F2F3FA"/>
          </a:solidFill>
          <a:ln/>
        </p:spPr>
      </p:sp>
      <p:sp>
        <p:nvSpPr>
          <p:cNvPr id="19" name="Text 17"/>
          <p:cNvSpPr txBox="1"/>
          <p:nvPr/>
        </p:nvSpPr>
        <p:spPr>
          <a:xfrm>
            <a:off x="868680" y="5852160"/>
            <a:ext cx="3017520" cy="713232"/>
          </a:xfrm>
          <a:prstGeom prst="rect">
            <a:avLst/>
          </a:prstGeom>
          <a:noFill/>
          <a:ln/>
        </p:spPr>
        <p:txBody>
          <a:bodyPr wrap="square"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Internship Duration</a:t>
            </a:r>
            <a:endParaRPr lang="en-US" sz="1400" dirty="0"/>
          </a:p>
        </p:txBody>
      </p:sp>
      <p:sp>
        <p:nvSpPr>
          <p:cNvPr id="20" name="Text 18"/>
          <p:cNvSpPr txBox="1"/>
          <p:nvPr/>
        </p:nvSpPr>
        <p:spPr>
          <a:xfrm>
            <a:off x="3931920" y="5852160"/>
            <a:ext cx="7406640" cy="713232"/>
          </a:xfrm>
          <a:prstGeom prst="rect">
            <a:avLst/>
          </a:prstGeom>
          <a:noFill/>
          <a:ln/>
        </p:spPr>
        <p:txBody>
          <a:bodyPr wrap="square" rtlCol="0" anchor="ctr"/>
          <a:lstStyle/>
          <a:p>
            <a:pPr indent="0" marL="0">
              <a:buNone/>
            </a:pPr>
            <a:r>
              <a:rPr lang="en-US" sz="1400" dirty="0">
                <a:solidFill>
                  <a:srgbClr val="1A1F36"/>
                </a:solidFill>
                <a:latin typeface="Calibri" pitchFamily="34" charset="0"/>
                <a:ea typeface="Calibri" pitchFamily="34" charset="-122"/>
                <a:cs typeface="Calibri" pitchFamily="34" charset="-120"/>
              </a:rPr>
              <a:t>10 August 2026 – 3 September 2026</a:t>
            </a:r>
            <a:endParaRPr lang="en-US" sz="1400" dirty="0"/>
          </a:p>
        </p:txBody>
      </p:sp>
      <p:sp>
        <p:nvSpPr>
          <p:cNvPr id="21"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Abstract</a:t>
            </a:r>
            <a:endParaRPr lang="en-US" sz="3000" dirty="0"/>
          </a:p>
        </p:txBody>
      </p:sp>
      <p:sp>
        <p:nvSpPr>
          <p:cNvPr id="3" name="Text 1"/>
          <p:cNvSpPr txBox="1"/>
          <p:nvPr/>
        </p:nvSpPr>
        <p:spPr>
          <a:xfrm>
            <a:off x="640080" y="1463040"/>
            <a:ext cx="6675120" cy="4572000"/>
          </a:xfrm>
          <a:prstGeom prst="rect">
            <a:avLst/>
          </a:prstGeom>
          <a:noFill/>
          <a:ln/>
        </p:spPr>
        <p:txBody>
          <a:bodyPr wrap="square" rtlCol="0" anchor="t"/>
          <a:lstStyle/>
          <a:p>
            <a:pPr indent="0" marL="0">
              <a:lnSpc>
                <a:spcPts val="2600"/>
              </a:lnSpc>
              <a:buNone/>
            </a:pPr>
            <a:r>
              <a:rPr lang="en-US" sz="1550" dirty="0">
                <a:solidFill>
                  <a:srgbClr val="1A1F36"/>
                </a:solidFill>
                <a:latin typeface="Calibri" pitchFamily="34" charset="0"/>
                <a:ea typeface="Calibri" pitchFamily="34" charset="-122"/>
                <a:cs typeface="Calibri" pitchFamily="34" charset="-120"/>
              </a:rPr>
              <a:t>Most people who hold a dataset cannot use it, because turning raw data into a decision takes SQL, statistics and machine learning skills most users do not have. Data Analyst + ML Agent is a full-stack web application that closes this gap: a user uploads a CSV or Excel file and the system automatically profiles it, cleans it, generates exploratory charts, answers natural-language questions through a guarded SQL agent, recommends and trains multiple machine learning models, compares their performance, explains feature importance, and produces predictions and a downloadable report — all explained in plain English.</a:t>
            </a:r>
            <a:endParaRPr lang="en-US" sz="1550" dirty="0"/>
          </a:p>
        </p:txBody>
      </p:sp>
      <p:sp>
        <p:nvSpPr>
          <p:cNvPr id="4" name="Text 2"/>
          <p:cNvSpPr txBox="1"/>
          <p:nvPr/>
        </p:nvSpPr>
        <p:spPr>
          <a:xfrm>
            <a:off x="640080" y="4114800"/>
            <a:ext cx="6675120" cy="1828800"/>
          </a:xfrm>
          <a:prstGeom prst="rect">
            <a:avLst/>
          </a:prstGeom>
          <a:noFill/>
          <a:ln/>
        </p:spPr>
        <p:txBody>
          <a:bodyPr wrap="square" rtlCol="0" anchor="t"/>
          <a:lstStyle/>
          <a:p>
            <a:pPr indent="0" marL="0">
              <a:lnSpc>
                <a:spcPts val="2600"/>
              </a:lnSpc>
              <a:buNone/>
            </a:pPr>
            <a:r>
              <a:rPr lang="en-US" sz="1550" dirty="0">
                <a:solidFill>
                  <a:srgbClr val="1A1F36"/>
                </a:solidFill>
                <a:latin typeface="Calibri" pitchFamily="34" charset="0"/>
                <a:ea typeface="Calibri" pitchFamily="34" charset="-122"/>
                <a:cs typeface="Calibri" pitchFamily="34" charset="-120"/>
              </a:rPr>
              <a:t>A core design rule governs the system: every number — a mean, a correlation, a model metric — is computed deterministically with Pandas, NumPy and scikit-learn. A large language model (Claude API) is used only to translate questions into SQL and to turn computed results into natural-language explanations, never to invent figures. The system remains fully functional with zero AI configuration.</a:t>
            </a:r>
            <a:endParaRPr lang="en-US" sz="1550" dirty="0"/>
          </a:p>
        </p:txBody>
      </p:sp>
      <p:sp>
        <p:nvSpPr>
          <p:cNvPr id="5" name="Shape 3"/>
          <p:cNvSpPr/>
          <p:nvPr/>
        </p:nvSpPr>
        <p:spPr>
          <a:xfrm>
            <a:off x="7680960" y="1463040"/>
            <a:ext cx="3840480" cy="1005840"/>
          </a:xfrm>
          <a:prstGeom prst="rect">
            <a:avLst/>
          </a:prstGeom>
          <a:solidFill>
            <a:srgbClr val="F2F3FA"/>
          </a:solidFill>
          <a:ln/>
          <a:effectLst>
            <a:outerShdw sx="100000" sy="100000" kx="0" ky="0" algn="bl" rotWithShape="0" blurRad="127000" dist="38100" dir="5400000">
              <a:srgbClr val="6B7280">
                <a:alpha val="18000"/>
              </a:srgbClr>
            </a:outerShdw>
          </a:effectLst>
        </p:spPr>
      </p:sp>
      <p:sp>
        <p:nvSpPr>
          <p:cNvPr id="6" name="Text 4"/>
          <p:cNvSpPr txBox="1"/>
          <p:nvPr/>
        </p:nvSpPr>
        <p:spPr>
          <a:xfrm>
            <a:off x="7863840" y="1463040"/>
            <a:ext cx="1463040" cy="1005840"/>
          </a:xfrm>
          <a:prstGeom prst="rect">
            <a:avLst/>
          </a:prstGeom>
          <a:noFill/>
          <a:ln/>
        </p:spPr>
        <p:txBody>
          <a:bodyPr wrap="square" rtlCol="0" anchor="ctr"/>
          <a:lstStyle/>
          <a:p>
            <a:pPr algn="ctr" indent="0" marL="0">
              <a:buNone/>
            </a:pPr>
            <a:r>
              <a:rPr lang="en-US" sz="2600" b="1" dirty="0">
                <a:solidFill>
                  <a:srgbClr val="4F46E5"/>
                </a:solidFill>
                <a:latin typeface="Cambria" pitchFamily="34" charset="0"/>
                <a:ea typeface="Cambria" pitchFamily="34" charset="-122"/>
                <a:cs typeface="Cambria" pitchFamily="34" charset="-120"/>
              </a:rPr>
              <a:t>21</a:t>
            </a:r>
            <a:endParaRPr lang="en-US" sz="2600" dirty="0"/>
          </a:p>
        </p:txBody>
      </p:sp>
      <p:sp>
        <p:nvSpPr>
          <p:cNvPr id="7" name="Text 5"/>
          <p:cNvSpPr txBox="1"/>
          <p:nvPr/>
        </p:nvSpPr>
        <p:spPr>
          <a:xfrm>
            <a:off x="9326880" y="1463040"/>
            <a:ext cx="2057400" cy="1005840"/>
          </a:xfrm>
          <a:prstGeom prst="rect">
            <a:avLst/>
          </a:prstGeom>
          <a:noFill/>
          <a:ln/>
        </p:spPr>
        <p:txBody>
          <a:bodyPr wrap="square" rtlCol="0" anchor="ctr"/>
          <a:lstStyle/>
          <a:p>
            <a:pPr algn="l" indent="0" marL="0">
              <a:buNone/>
            </a:pPr>
            <a:r>
              <a:rPr lang="en-US" sz="1300" dirty="0">
                <a:solidFill>
                  <a:srgbClr val="1A1F36"/>
                </a:solidFill>
                <a:latin typeface="Calibri" pitchFamily="34" charset="0"/>
                <a:ea typeface="Calibri" pitchFamily="34" charset="-122"/>
                <a:cs typeface="Calibri" pitchFamily="34" charset="-120"/>
              </a:rPr>
              <a:t>Agent modules</a:t>
            </a:r>
            <a:endParaRPr lang="en-US" sz="1300" dirty="0"/>
          </a:p>
        </p:txBody>
      </p:sp>
      <p:sp>
        <p:nvSpPr>
          <p:cNvPr id="8" name="Shape 6"/>
          <p:cNvSpPr/>
          <p:nvPr/>
        </p:nvSpPr>
        <p:spPr>
          <a:xfrm>
            <a:off x="7680960" y="2651760"/>
            <a:ext cx="3840480" cy="1005840"/>
          </a:xfrm>
          <a:prstGeom prst="rect">
            <a:avLst/>
          </a:prstGeom>
          <a:solidFill>
            <a:srgbClr val="F2F3FA"/>
          </a:solidFill>
          <a:ln/>
          <a:effectLst>
            <a:outerShdw sx="100000" sy="100000" kx="0" ky="0" algn="bl" rotWithShape="0" blurRad="127000" dist="38100" dir="5400000">
              <a:srgbClr val="6B7280">
                <a:alpha val="18000"/>
              </a:srgbClr>
            </a:outerShdw>
          </a:effectLst>
        </p:spPr>
      </p:sp>
      <p:sp>
        <p:nvSpPr>
          <p:cNvPr id="9" name="Text 7"/>
          <p:cNvSpPr txBox="1"/>
          <p:nvPr/>
        </p:nvSpPr>
        <p:spPr>
          <a:xfrm>
            <a:off x="7863840" y="2651760"/>
            <a:ext cx="1463040" cy="1005840"/>
          </a:xfrm>
          <a:prstGeom prst="rect">
            <a:avLst/>
          </a:prstGeom>
          <a:noFill/>
          <a:ln/>
        </p:spPr>
        <p:txBody>
          <a:bodyPr wrap="square" rtlCol="0" anchor="ctr"/>
          <a:lstStyle/>
          <a:p>
            <a:pPr algn="ctr" indent="0" marL="0">
              <a:buNone/>
            </a:pPr>
            <a:r>
              <a:rPr lang="en-US" sz="2600" b="1" dirty="0">
                <a:solidFill>
                  <a:srgbClr val="4F46E5"/>
                </a:solidFill>
                <a:latin typeface="Cambria" pitchFamily="34" charset="0"/>
                <a:ea typeface="Cambria" pitchFamily="34" charset="-122"/>
                <a:cs typeface="Cambria" pitchFamily="34" charset="-120"/>
              </a:rPr>
              <a:t>25 / 25</a:t>
            </a:r>
            <a:endParaRPr lang="en-US" sz="2600" dirty="0"/>
          </a:p>
        </p:txBody>
      </p:sp>
      <p:sp>
        <p:nvSpPr>
          <p:cNvPr id="10" name="Text 8"/>
          <p:cNvSpPr txBox="1"/>
          <p:nvPr/>
        </p:nvSpPr>
        <p:spPr>
          <a:xfrm>
            <a:off x="9326880" y="2651760"/>
            <a:ext cx="2057400" cy="1005840"/>
          </a:xfrm>
          <a:prstGeom prst="rect">
            <a:avLst/>
          </a:prstGeom>
          <a:noFill/>
          <a:ln/>
        </p:spPr>
        <p:txBody>
          <a:bodyPr wrap="square" rtlCol="0" anchor="ctr"/>
          <a:lstStyle/>
          <a:p>
            <a:pPr algn="l" indent="0" marL="0">
              <a:buNone/>
            </a:pPr>
            <a:r>
              <a:rPr lang="en-US" sz="1300" dirty="0">
                <a:solidFill>
                  <a:srgbClr val="1A1F36"/>
                </a:solidFill>
                <a:latin typeface="Calibri" pitchFamily="34" charset="0"/>
                <a:ea typeface="Calibri" pitchFamily="34" charset="-122"/>
                <a:cs typeface="Calibri" pitchFamily="34" charset="-120"/>
              </a:rPr>
              <a:t>Tests passing</a:t>
            </a:r>
            <a:endParaRPr lang="en-US" sz="1300" dirty="0"/>
          </a:p>
        </p:txBody>
      </p:sp>
      <p:sp>
        <p:nvSpPr>
          <p:cNvPr id="11" name="Shape 9"/>
          <p:cNvSpPr/>
          <p:nvPr/>
        </p:nvSpPr>
        <p:spPr>
          <a:xfrm>
            <a:off x="7680960" y="3840480"/>
            <a:ext cx="3840480" cy="1005840"/>
          </a:xfrm>
          <a:prstGeom prst="rect">
            <a:avLst/>
          </a:prstGeom>
          <a:solidFill>
            <a:srgbClr val="F2F3FA"/>
          </a:solidFill>
          <a:ln/>
          <a:effectLst>
            <a:outerShdw sx="100000" sy="100000" kx="0" ky="0" algn="bl" rotWithShape="0" blurRad="127000" dist="38100" dir="5400000">
              <a:srgbClr val="6B7280">
                <a:alpha val="18000"/>
              </a:srgbClr>
            </a:outerShdw>
          </a:effectLst>
        </p:spPr>
      </p:sp>
      <p:sp>
        <p:nvSpPr>
          <p:cNvPr id="12" name="Text 10"/>
          <p:cNvSpPr txBox="1"/>
          <p:nvPr/>
        </p:nvSpPr>
        <p:spPr>
          <a:xfrm>
            <a:off x="7863840" y="3840480"/>
            <a:ext cx="1463040" cy="1005840"/>
          </a:xfrm>
          <a:prstGeom prst="rect">
            <a:avLst/>
          </a:prstGeom>
          <a:noFill/>
          <a:ln/>
        </p:spPr>
        <p:txBody>
          <a:bodyPr wrap="square" rtlCol="0" anchor="ctr"/>
          <a:lstStyle/>
          <a:p>
            <a:pPr algn="ctr" indent="0" marL="0">
              <a:buNone/>
            </a:pPr>
            <a:r>
              <a:rPr lang="en-US" sz="2600" b="1" dirty="0">
                <a:solidFill>
                  <a:srgbClr val="4F46E5"/>
                </a:solidFill>
                <a:latin typeface="Cambria" pitchFamily="34" charset="0"/>
                <a:ea typeface="Cambria" pitchFamily="34" charset="-122"/>
                <a:cs typeface="Cambria" pitchFamily="34" charset="-120"/>
              </a:rPr>
              <a:t>12</a:t>
            </a:r>
            <a:endParaRPr lang="en-US" sz="2600" dirty="0"/>
          </a:p>
        </p:txBody>
      </p:sp>
      <p:sp>
        <p:nvSpPr>
          <p:cNvPr id="13" name="Text 11"/>
          <p:cNvSpPr txBox="1"/>
          <p:nvPr/>
        </p:nvSpPr>
        <p:spPr>
          <a:xfrm>
            <a:off x="9326880" y="3840480"/>
            <a:ext cx="2057400" cy="1005840"/>
          </a:xfrm>
          <a:prstGeom prst="rect">
            <a:avLst/>
          </a:prstGeom>
          <a:noFill/>
          <a:ln/>
        </p:spPr>
        <p:txBody>
          <a:bodyPr wrap="square" rtlCol="0" anchor="ctr"/>
          <a:lstStyle/>
          <a:p>
            <a:pPr algn="l" indent="0" marL="0">
              <a:buNone/>
            </a:pPr>
            <a:r>
              <a:rPr lang="en-US" sz="1300" dirty="0">
                <a:solidFill>
                  <a:srgbClr val="1A1F36"/>
                </a:solidFill>
                <a:latin typeface="Calibri" pitchFamily="34" charset="0"/>
                <a:ea typeface="Calibri" pitchFamily="34" charset="-122"/>
                <a:cs typeface="Calibri" pitchFamily="34" charset="-120"/>
              </a:rPr>
              <a:t>Frontend pages</a:t>
            </a:r>
            <a:endParaRPr lang="en-US" sz="1300" dirty="0"/>
          </a:p>
        </p:txBody>
      </p:sp>
      <p:sp>
        <p:nvSpPr>
          <p:cNvPr id="14" name="Shape 12"/>
          <p:cNvSpPr/>
          <p:nvPr/>
        </p:nvSpPr>
        <p:spPr>
          <a:xfrm>
            <a:off x="7680960" y="5029200"/>
            <a:ext cx="3840480" cy="1005840"/>
          </a:xfrm>
          <a:prstGeom prst="rect">
            <a:avLst/>
          </a:prstGeom>
          <a:solidFill>
            <a:srgbClr val="F2F3FA"/>
          </a:solidFill>
          <a:ln/>
          <a:effectLst>
            <a:outerShdw sx="100000" sy="100000" kx="0" ky="0" algn="bl" rotWithShape="0" blurRad="127000" dist="38100" dir="5400000">
              <a:srgbClr val="6B7280">
                <a:alpha val="18000"/>
              </a:srgbClr>
            </a:outerShdw>
          </a:effectLst>
        </p:spPr>
      </p:sp>
      <p:sp>
        <p:nvSpPr>
          <p:cNvPr id="15" name="Text 13"/>
          <p:cNvSpPr txBox="1"/>
          <p:nvPr/>
        </p:nvSpPr>
        <p:spPr>
          <a:xfrm>
            <a:off x="7863840" y="5029200"/>
            <a:ext cx="1463040" cy="1005840"/>
          </a:xfrm>
          <a:prstGeom prst="rect">
            <a:avLst/>
          </a:prstGeom>
          <a:noFill/>
          <a:ln/>
        </p:spPr>
        <p:txBody>
          <a:bodyPr wrap="square" rtlCol="0" anchor="ctr"/>
          <a:lstStyle/>
          <a:p>
            <a:pPr algn="ctr" indent="0" marL="0">
              <a:buNone/>
            </a:pPr>
            <a:r>
              <a:rPr lang="en-US" sz="2600" b="1" dirty="0">
                <a:solidFill>
                  <a:srgbClr val="4F46E5"/>
                </a:solidFill>
                <a:latin typeface="Cambria" pitchFamily="34" charset="0"/>
                <a:ea typeface="Cambria" pitchFamily="34" charset="-122"/>
                <a:cs typeface="Cambria" pitchFamily="34" charset="-120"/>
              </a:rPr>
              <a:t>30</a:t>
            </a:r>
            <a:endParaRPr lang="en-US" sz="2600" dirty="0"/>
          </a:p>
        </p:txBody>
      </p:sp>
      <p:sp>
        <p:nvSpPr>
          <p:cNvPr id="16" name="Text 14"/>
          <p:cNvSpPr txBox="1"/>
          <p:nvPr/>
        </p:nvSpPr>
        <p:spPr>
          <a:xfrm>
            <a:off x="9326880" y="5029200"/>
            <a:ext cx="2057400" cy="1005840"/>
          </a:xfrm>
          <a:prstGeom prst="rect">
            <a:avLst/>
          </a:prstGeom>
          <a:noFill/>
          <a:ln/>
        </p:spPr>
        <p:txBody>
          <a:bodyPr wrap="square" rtlCol="0" anchor="ctr"/>
          <a:lstStyle/>
          <a:p>
            <a:pPr algn="l" indent="0" marL="0">
              <a:buNone/>
            </a:pPr>
            <a:r>
              <a:rPr lang="en-US" sz="1300" dirty="0">
                <a:solidFill>
                  <a:srgbClr val="1A1F36"/>
                </a:solidFill>
                <a:latin typeface="Calibri" pitchFamily="34" charset="0"/>
                <a:ea typeface="Calibri" pitchFamily="34" charset="-122"/>
                <a:cs typeface="Calibri" pitchFamily="34" charset="-120"/>
              </a:rPr>
              <a:t>API endpoints</a:t>
            </a:r>
            <a:endParaRPr lang="en-US" sz="1300" dirty="0"/>
          </a:p>
        </p:txBody>
      </p:sp>
      <p:sp>
        <p:nvSpPr>
          <p:cNvPr id="17"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Introduction</a:t>
            </a:r>
            <a:endParaRPr lang="en-US" sz="3000" dirty="0"/>
          </a:p>
        </p:txBody>
      </p:sp>
      <p:sp>
        <p:nvSpPr>
          <p:cNvPr id="3" name="Text 1"/>
          <p:cNvSpPr txBox="1"/>
          <p:nvPr/>
        </p:nvSpPr>
        <p:spPr>
          <a:xfrm>
            <a:off x="640080" y="1463040"/>
            <a:ext cx="5120640" cy="365760"/>
          </a:xfrm>
          <a:prstGeom prst="rect">
            <a:avLst/>
          </a:prstGeom>
          <a:noFill/>
          <a:ln/>
        </p:spPr>
        <p:txBody>
          <a:bodyPr wrap="square" rtlCol="0" anchor="ctr"/>
          <a:lstStyle/>
          <a:p>
            <a:pPr indent="0" marL="0">
              <a:buNone/>
            </a:pPr>
            <a:r>
              <a:rPr lang="en-US" sz="1600" b="1" dirty="0">
                <a:solidFill>
                  <a:srgbClr val="4F46E5"/>
                </a:solidFill>
                <a:latin typeface="Calibri" pitchFamily="34" charset="0"/>
                <a:ea typeface="Calibri" pitchFamily="34" charset="-122"/>
                <a:cs typeface="Calibri" pitchFamily="34" charset="-120"/>
              </a:rPr>
              <a:t>Problem</a:t>
            </a:r>
            <a:endParaRPr lang="en-US" sz="1600" dirty="0"/>
          </a:p>
        </p:txBody>
      </p:sp>
      <p:sp>
        <p:nvSpPr>
          <p:cNvPr id="4" name="Text 2"/>
          <p:cNvSpPr txBox="1"/>
          <p:nvPr/>
        </p:nvSpPr>
        <p:spPr>
          <a:xfrm>
            <a:off x="640080" y="1920240"/>
            <a:ext cx="5120640" cy="1828800"/>
          </a:xfrm>
          <a:prstGeom prst="rect">
            <a:avLst/>
          </a:prstGeom>
          <a:noFill/>
          <a:ln/>
        </p:spPr>
        <p:txBody>
          <a:bodyPr wrap="square" rtlCol="0" anchor="ctr"/>
          <a:lstStyle/>
          <a:p>
            <a:pPr indent="0" marL="0">
              <a:lnSpc>
                <a:spcPts val="2300"/>
              </a:lnSpc>
              <a:buNone/>
            </a:pPr>
            <a:r>
              <a:rPr lang="en-US" sz="1450" dirty="0">
                <a:solidFill>
                  <a:srgbClr val="1A1F36"/>
                </a:solidFill>
                <a:latin typeface="Calibri" pitchFamily="34" charset="0"/>
                <a:ea typeface="Calibri" pitchFamily="34" charset="-122"/>
                <a:cs typeface="Calibri" pitchFamily="34" charset="-120"/>
              </a:rPr>
              <a:t>A person with a spreadsheet often does not know SQL, Python, statistics, or which machine learning model fits their problem. Existing BI dashboards show charts but do not clean data, explain results, or train models.</a:t>
            </a:r>
            <a:endParaRPr lang="en-US" sz="1450" dirty="0"/>
          </a:p>
        </p:txBody>
      </p:sp>
      <p:sp>
        <p:nvSpPr>
          <p:cNvPr id="5" name="Text 3"/>
          <p:cNvSpPr txBox="1"/>
          <p:nvPr/>
        </p:nvSpPr>
        <p:spPr>
          <a:xfrm>
            <a:off x="640080" y="3840480"/>
            <a:ext cx="5120640" cy="365760"/>
          </a:xfrm>
          <a:prstGeom prst="rect">
            <a:avLst/>
          </a:prstGeom>
          <a:noFill/>
          <a:ln/>
        </p:spPr>
        <p:txBody>
          <a:bodyPr wrap="square" rtlCol="0" anchor="ctr"/>
          <a:lstStyle/>
          <a:p>
            <a:pPr indent="0" marL="0">
              <a:buNone/>
            </a:pPr>
            <a:r>
              <a:rPr lang="en-US" sz="1600" b="1" dirty="0">
                <a:solidFill>
                  <a:srgbClr val="4F46E5"/>
                </a:solidFill>
                <a:latin typeface="Calibri" pitchFamily="34" charset="0"/>
                <a:ea typeface="Calibri" pitchFamily="34" charset="-122"/>
                <a:cs typeface="Calibri" pitchFamily="34" charset="-120"/>
              </a:rPr>
              <a:t>Scope of the internship task</a:t>
            </a:r>
            <a:endParaRPr lang="en-US" sz="1600" dirty="0"/>
          </a:p>
        </p:txBody>
      </p:sp>
      <p:sp>
        <p:nvSpPr>
          <p:cNvPr id="6" name="Text 4"/>
          <p:cNvSpPr txBox="1"/>
          <p:nvPr/>
        </p:nvSpPr>
        <p:spPr>
          <a:xfrm>
            <a:off x="640080" y="4297680"/>
            <a:ext cx="5120640" cy="2011680"/>
          </a:xfrm>
          <a:prstGeom prst="rect">
            <a:avLst/>
          </a:prstGeom>
          <a:noFill/>
          <a:ln/>
        </p:spPr>
        <p:txBody>
          <a:bodyPr wrap="square" rtlCol="0" anchor="ctr"/>
          <a:lstStyle/>
          <a:p>
            <a:pPr indent="0" marL="0">
              <a:lnSpc>
                <a:spcPts val="2300"/>
              </a:lnSpc>
              <a:buNone/>
            </a:pPr>
            <a:r>
              <a:rPr lang="en-US" sz="1450" dirty="0">
                <a:solidFill>
                  <a:srgbClr val="1A1F36"/>
                </a:solidFill>
                <a:latin typeface="Calibri" pitchFamily="34" charset="0"/>
                <a:ea typeface="Calibri" pitchFamily="34" charset="-122"/>
                <a:cs typeface="Calibri" pitchFamily="34" charset="-120"/>
              </a:rPr>
              <a:t>Design and build, end-to-end, a working web application that takes a raw dataset and carries a non-technical user through profiling, cleaning, exploration, SQL/NL querying, ML training, model comparison, explainability and reporting.</a:t>
            </a:r>
            <a:endParaRPr lang="en-US" sz="1450" dirty="0"/>
          </a:p>
        </p:txBody>
      </p:sp>
      <p:sp>
        <p:nvSpPr>
          <p:cNvPr id="7" name="Shape 5"/>
          <p:cNvSpPr/>
          <p:nvPr/>
        </p:nvSpPr>
        <p:spPr>
          <a:xfrm>
            <a:off x="6035040" y="1463040"/>
            <a:ext cx="5486400" cy="841248"/>
          </a:xfrm>
          <a:prstGeom prst="rect">
            <a:avLst/>
          </a:prstGeom>
          <a:solidFill>
            <a:srgbClr val="F2F3FA"/>
          </a:solidFill>
          <a:ln/>
        </p:spPr>
      </p:sp>
      <p:sp>
        <p:nvSpPr>
          <p:cNvPr id="8" name="Text 6"/>
          <p:cNvSpPr txBox="1"/>
          <p:nvPr/>
        </p:nvSpPr>
        <p:spPr>
          <a:xfrm>
            <a:off x="6263640" y="1517904"/>
            <a:ext cx="5120640"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Understand data automatically</a:t>
            </a:r>
            <a:endParaRPr lang="en-US" sz="1350" dirty="0"/>
          </a:p>
        </p:txBody>
      </p:sp>
      <p:sp>
        <p:nvSpPr>
          <p:cNvPr id="9" name="Text 7"/>
          <p:cNvSpPr txBox="1"/>
          <p:nvPr/>
        </p:nvSpPr>
        <p:spPr>
          <a:xfrm>
            <a:off x="6263640" y="1874520"/>
            <a:ext cx="5120640" cy="365760"/>
          </a:xfrm>
          <a:prstGeom prst="rect">
            <a:avLst/>
          </a:prstGeom>
          <a:noFill/>
          <a:ln/>
        </p:spPr>
        <p:txBody>
          <a:bodyPr wrap="square" rtlCol="0" anchor="ctr"/>
          <a:lstStyle/>
          <a:p>
            <a:pPr indent="0" marL="0">
              <a:buNone/>
            </a:pPr>
            <a:r>
              <a:rPr lang="en-US" sz="1150" dirty="0">
                <a:solidFill>
                  <a:srgbClr val="8B92B3"/>
                </a:solidFill>
                <a:latin typeface="Calibri" pitchFamily="34" charset="0"/>
                <a:ea typeface="Calibri" pitchFamily="34" charset="-122"/>
                <a:cs typeface="Calibri" pitchFamily="34" charset="-120"/>
              </a:rPr>
              <a:t>Profile any uploaded file with zero manual setup</a:t>
            </a:r>
            <a:endParaRPr lang="en-US" sz="1150" dirty="0"/>
          </a:p>
        </p:txBody>
      </p:sp>
      <p:sp>
        <p:nvSpPr>
          <p:cNvPr id="10" name="Shape 8"/>
          <p:cNvSpPr/>
          <p:nvPr/>
        </p:nvSpPr>
        <p:spPr>
          <a:xfrm>
            <a:off x="6035040" y="2423160"/>
            <a:ext cx="5486400" cy="841248"/>
          </a:xfrm>
          <a:prstGeom prst="rect">
            <a:avLst/>
          </a:prstGeom>
          <a:solidFill>
            <a:srgbClr val="F2F3FA"/>
          </a:solidFill>
          <a:ln/>
        </p:spPr>
      </p:sp>
      <p:sp>
        <p:nvSpPr>
          <p:cNvPr id="11" name="Text 9"/>
          <p:cNvSpPr txBox="1"/>
          <p:nvPr/>
        </p:nvSpPr>
        <p:spPr>
          <a:xfrm>
            <a:off x="6263640" y="2478024"/>
            <a:ext cx="5120640"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Answer questions in English</a:t>
            </a:r>
            <a:endParaRPr lang="en-US" sz="1350" dirty="0"/>
          </a:p>
        </p:txBody>
      </p:sp>
      <p:sp>
        <p:nvSpPr>
          <p:cNvPr id="12" name="Text 10"/>
          <p:cNvSpPr txBox="1"/>
          <p:nvPr/>
        </p:nvSpPr>
        <p:spPr>
          <a:xfrm>
            <a:off x="6263640" y="2834640"/>
            <a:ext cx="5120640" cy="365760"/>
          </a:xfrm>
          <a:prstGeom prst="rect">
            <a:avLst/>
          </a:prstGeom>
          <a:noFill/>
          <a:ln/>
        </p:spPr>
        <p:txBody>
          <a:bodyPr wrap="square" rtlCol="0" anchor="ctr"/>
          <a:lstStyle/>
          <a:p>
            <a:pPr indent="0" marL="0">
              <a:buNone/>
            </a:pPr>
            <a:r>
              <a:rPr lang="en-US" sz="1150" dirty="0">
                <a:solidFill>
                  <a:srgbClr val="8B92B3"/>
                </a:solidFill>
                <a:latin typeface="Calibri" pitchFamily="34" charset="0"/>
                <a:ea typeface="Calibri" pitchFamily="34" charset="-122"/>
                <a:cs typeface="Calibri" pitchFamily="34" charset="-120"/>
              </a:rPr>
              <a:t>Natural-language queries over the dataset</a:t>
            </a:r>
            <a:endParaRPr lang="en-US" sz="1150" dirty="0"/>
          </a:p>
        </p:txBody>
      </p:sp>
      <p:sp>
        <p:nvSpPr>
          <p:cNvPr id="13" name="Shape 11"/>
          <p:cNvSpPr/>
          <p:nvPr/>
        </p:nvSpPr>
        <p:spPr>
          <a:xfrm>
            <a:off x="6035040" y="3383280"/>
            <a:ext cx="5486400" cy="841248"/>
          </a:xfrm>
          <a:prstGeom prst="rect">
            <a:avLst/>
          </a:prstGeom>
          <a:solidFill>
            <a:srgbClr val="F2F3FA"/>
          </a:solidFill>
          <a:ln/>
        </p:spPr>
      </p:sp>
      <p:sp>
        <p:nvSpPr>
          <p:cNvPr id="14" name="Text 12"/>
          <p:cNvSpPr txBox="1"/>
          <p:nvPr/>
        </p:nvSpPr>
        <p:spPr>
          <a:xfrm>
            <a:off x="6263640" y="3438144"/>
            <a:ext cx="5120640"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Generate safe SQL &amp; code</a:t>
            </a:r>
            <a:endParaRPr lang="en-US" sz="1350" dirty="0"/>
          </a:p>
        </p:txBody>
      </p:sp>
      <p:sp>
        <p:nvSpPr>
          <p:cNvPr id="15" name="Text 13"/>
          <p:cNvSpPr txBox="1"/>
          <p:nvPr/>
        </p:nvSpPr>
        <p:spPr>
          <a:xfrm>
            <a:off x="6263640" y="3794760"/>
            <a:ext cx="5120640" cy="365760"/>
          </a:xfrm>
          <a:prstGeom prst="rect">
            <a:avLst/>
          </a:prstGeom>
          <a:noFill/>
          <a:ln/>
        </p:spPr>
        <p:txBody>
          <a:bodyPr wrap="square" rtlCol="0" anchor="ctr"/>
          <a:lstStyle/>
          <a:p>
            <a:pPr indent="0" marL="0">
              <a:buNone/>
            </a:pPr>
            <a:r>
              <a:rPr lang="en-US" sz="1150" dirty="0">
                <a:solidFill>
                  <a:srgbClr val="8B92B3"/>
                </a:solidFill>
                <a:latin typeface="Calibri" pitchFamily="34" charset="0"/>
                <a:ea typeface="Calibri" pitchFamily="34" charset="-122"/>
                <a:cs typeface="Calibri" pitchFamily="34" charset="-120"/>
              </a:rPr>
              <a:t>Read-only SQL, no destructive statements</a:t>
            </a:r>
            <a:endParaRPr lang="en-US" sz="1150" dirty="0"/>
          </a:p>
        </p:txBody>
      </p:sp>
      <p:sp>
        <p:nvSpPr>
          <p:cNvPr id="16" name="Shape 14"/>
          <p:cNvSpPr/>
          <p:nvPr/>
        </p:nvSpPr>
        <p:spPr>
          <a:xfrm>
            <a:off x="6035040" y="4343400"/>
            <a:ext cx="5486400" cy="841248"/>
          </a:xfrm>
          <a:prstGeom prst="rect">
            <a:avLst/>
          </a:prstGeom>
          <a:solidFill>
            <a:srgbClr val="F2F3FA"/>
          </a:solidFill>
          <a:ln/>
        </p:spPr>
      </p:sp>
      <p:sp>
        <p:nvSpPr>
          <p:cNvPr id="17" name="Text 15"/>
          <p:cNvSpPr txBox="1"/>
          <p:nvPr/>
        </p:nvSpPr>
        <p:spPr>
          <a:xfrm>
            <a:off x="6263640" y="4398264"/>
            <a:ext cx="5120640"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Train &amp; compare ML models</a:t>
            </a:r>
            <a:endParaRPr lang="en-US" sz="1350" dirty="0"/>
          </a:p>
        </p:txBody>
      </p:sp>
      <p:sp>
        <p:nvSpPr>
          <p:cNvPr id="18" name="Text 16"/>
          <p:cNvSpPr txBox="1"/>
          <p:nvPr/>
        </p:nvSpPr>
        <p:spPr>
          <a:xfrm>
            <a:off x="6263640" y="4754880"/>
            <a:ext cx="5120640" cy="365760"/>
          </a:xfrm>
          <a:prstGeom prst="rect">
            <a:avLst/>
          </a:prstGeom>
          <a:noFill/>
          <a:ln/>
        </p:spPr>
        <p:txBody>
          <a:bodyPr wrap="square" rtlCol="0" anchor="ctr"/>
          <a:lstStyle/>
          <a:p>
            <a:pPr indent="0" marL="0">
              <a:buNone/>
            </a:pPr>
            <a:r>
              <a:rPr lang="en-US" sz="1150" dirty="0">
                <a:solidFill>
                  <a:srgbClr val="8B92B3"/>
                </a:solidFill>
                <a:latin typeface="Calibri" pitchFamily="34" charset="0"/>
                <a:ea typeface="Calibri" pitchFamily="34" charset="-122"/>
                <a:cs typeface="Calibri" pitchFamily="34" charset="-120"/>
              </a:rPr>
              <a:t>Multiple algorithms, evaluated side by side</a:t>
            </a:r>
            <a:endParaRPr lang="en-US" sz="1150" dirty="0"/>
          </a:p>
        </p:txBody>
      </p:sp>
      <p:sp>
        <p:nvSpPr>
          <p:cNvPr id="19" name="Shape 17"/>
          <p:cNvSpPr/>
          <p:nvPr/>
        </p:nvSpPr>
        <p:spPr>
          <a:xfrm>
            <a:off x="6035040" y="5303520"/>
            <a:ext cx="5486400" cy="841248"/>
          </a:xfrm>
          <a:prstGeom prst="rect">
            <a:avLst/>
          </a:prstGeom>
          <a:solidFill>
            <a:srgbClr val="F2F3FA"/>
          </a:solidFill>
          <a:ln/>
        </p:spPr>
      </p:sp>
      <p:sp>
        <p:nvSpPr>
          <p:cNvPr id="20" name="Text 18"/>
          <p:cNvSpPr txBox="1"/>
          <p:nvPr/>
        </p:nvSpPr>
        <p:spPr>
          <a:xfrm>
            <a:off x="6263640" y="5358384"/>
            <a:ext cx="5120640"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Explain results simply</a:t>
            </a:r>
            <a:endParaRPr lang="en-US" sz="1350" dirty="0"/>
          </a:p>
        </p:txBody>
      </p:sp>
      <p:sp>
        <p:nvSpPr>
          <p:cNvPr id="21" name="Text 19"/>
          <p:cNvSpPr txBox="1"/>
          <p:nvPr/>
        </p:nvSpPr>
        <p:spPr>
          <a:xfrm>
            <a:off x="6263640" y="5715000"/>
            <a:ext cx="5120640" cy="365760"/>
          </a:xfrm>
          <a:prstGeom prst="rect">
            <a:avLst/>
          </a:prstGeom>
          <a:noFill/>
          <a:ln/>
        </p:spPr>
        <p:txBody>
          <a:bodyPr wrap="square" rtlCol="0" anchor="ctr"/>
          <a:lstStyle/>
          <a:p>
            <a:pPr indent="0" marL="0">
              <a:buNone/>
            </a:pPr>
            <a:r>
              <a:rPr lang="en-US" sz="1150" dirty="0">
                <a:solidFill>
                  <a:srgbClr val="8B92B3"/>
                </a:solidFill>
                <a:latin typeface="Calibri" pitchFamily="34" charset="0"/>
                <a:ea typeface="Calibri" pitchFamily="34" charset="-122"/>
                <a:cs typeface="Calibri" pitchFamily="34" charset="-120"/>
              </a:rPr>
              <a:t>Metrics and feature importance in plain English</a:t>
            </a:r>
            <a:endParaRPr lang="en-US" sz="1150" dirty="0"/>
          </a:p>
        </p:txBody>
      </p:sp>
      <p:sp>
        <p:nvSpPr>
          <p:cNvPr id="22"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Methodology / Algorithm</a:t>
            </a:r>
            <a:endParaRPr lang="en-US" sz="3000" dirty="0"/>
          </a:p>
        </p:txBody>
      </p:sp>
      <p:sp>
        <p:nvSpPr>
          <p:cNvPr id="3" name="Text 1"/>
          <p:cNvSpPr txBox="1"/>
          <p:nvPr/>
        </p:nvSpPr>
        <p:spPr>
          <a:xfrm>
            <a:off x="640080" y="1417320"/>
            <a:ext cx="10881360" cy="320040"/>
          </a:xfrm>
          <a:prstGeom prst="rect">
            <a:avLst/>
          </a:prstGeom>
          <a:noFill/>
          <a:ln/>
        </p:spPr>
        <p:txBody>
          <a:bodyPr wrap="square"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Preprocessing pipeline (leak-free)</a:t>
            </a:r>
            <a:endParaRPr lang="en-US" sz="1500" dirty="0"/>
          </a:p>
        </p:txBody>
      </p:sp>
      <p:sp>
        <p:nvSpPr>
          <p:cNvPr id="4" name="Text 2"/>
          <p:cNvSpPr txBox="1"/>
          <p:nvPr/>
        </p:nvSpPr>
        <p:spPr>
          <a:xfrm>
            <a:off x="640080" y="1783080"/>
            <a:ext cx="10881360" cy="822960"/>
          </a:xfrm>
          <a:prstGeom prst="rect">
            <a:avLst/>
          </a:prstGeom>
          <a:noFill/>
          <a:ln/>
        </p:spPr>
        <p:txBody>
          <a:bodyPr wrap="square" rtlCol="0" anchor="ctr"/>
          <a:lstStyle/>
          <a:p>
            <a:pPr indent="0" marL="0">
              <a:lnSpc>
                <a:spcPts val="2000"/>
              </a:lnSpc>
              <a:buNone/>
            </a:pPr>
            <a:r>
              <a:rPr lang="en-US" sz="1350" dirty="0">
                <a:solidFill>
                  <a:srgbClr val="1A1F36"/>
                </a:solidFill>
                <a:latin typeface="Calibri" pitchFamily="34" charset="0"/>
                <a:ea typeface="Calibri" pitchFamily="34" charset="-122"/>
                <a:cs typeface="Calibri" pitchFamily="34" charset="-120"/>
              </a:rPr>
              <a:t>sklearn ColumnTransformer + Pipeline: numeric columns get median imputation and scaling, categorical columns get mode imputation and one-hot encoding. The pipeline is fit only on the training split, so no information from the test set leaks into training.</a:t>
            </a:r>
            <a:endParaRPr lang="en-US" sz="1350" dirty="0"/>
          </a:p>
        </p:txBody>
      </p:sp>
      <p:sp>
        <p:nvSpPr>
          <p:cNvPr id="5" name="Text 3"/>
          <p:cNvSpPr txBox="1"/>
          <p:nvPr/>
        </p:nvSpPr>
        <p:spPr>
          <a:xfrm>
            <a:off x="640080" y="2697480"/>
            <a:ext cx="5212080" cy="320040"/>
          </a:xfrm>
          <a:prstGeom prst="rect">
            <a:avLst/>
          </a:prstGeom>
          <a:noFill/>
          <a:ln/>
        </p:spPr>
        <p:txBody>
          <a:bodyPr wrap="square"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Algorithm selection logic</a:t>
            </a:r>
            <a:endParaRPr lang="en-US" sz="1500" dirty="0"/>
          </a:p>
        </p:txBody>
      </p:sp>
      <p:sp>
        <p:nvSpPr>
          <p:cNvPr id="6" name="Text 4"/>
          <p:cNvSpPr txBox="1"/>
          <p:nvPr/>
        </p:nvSpPr>
        <p:spPr>
          <a:xfrm>
            <a:off x="640080" y="3108960"/>
            <a:ext cx="5212080" cy="1828800"/>
          </a:xfrm>
          <a:prstGeom prst="rect">
            <a:avLst/>
          </a:prstGeom>
          <a:noFill/>
          <a:ln/>
        </p:spPr>
        <p:txBody>
          <a:bodyPr wrap="square" rtlCol="0" anchor="ctr"/>
          <a:lstStyle/>
          <a:p>
            <a:pPr indent="0" marL="0">
              <a:lnSpc>
                <a:spcPts val="2000"/>
              </a:lnSpc>
              <a:buNone/>
            </a:pPr>
            <a:r>
              <a:rPr lang="en-US" sz="1350" dirty="0">
                <a:solidFill>
                  <a:srgbClr val="1A1F36"/>
                </a:solidFill>
                <a:latin typeface="Calibri" pitchFamily="34" charset="0"/>
                <a:ea typeface="Calibri" pitchFamily="34" charset="-122"/>
                <a:cs typeface="Calibri" pitchFamily="34" charset="-120"/>
              </a:rPr>
              <a:t>The target column's dtype and cardinality decide the problem type (classification vs. regression); an unset target routes to clustering. The system then recommends algorithms suited to that type, with each recommendation's assumptions and trade-offs shown to the user before training.</a:t>
            </a:r>
            <a:endParaRPr lang="en-US" sz="1350" dirty="0"/>
          </a:p>
        </p:txBody>
      </p:sp>
      <p:sp>
        <p:nvSpPr>
          <p:cNvPr id="7" name="Text 5"/>
          <p:cNvSpPr txBox="1"/>
          <p:nvPr/>
        </p:nvSpPr>
        <p:spPr>
          <a:xfrm>
            <a:off x="6126480" y="2697480"/>
            <a:ext cx="5394960" cy="320040"/>
          </a:xfrm>
          <a:prstGeom prst="rect">
            <a:avLst/>
          </a:prstGeom>
          <a:noFill/>
          <a:ln/>
        </p:spPr>
        <p:txBody>
          <a:bodyPr wrap="square"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Algorithms implemented</a:t>
            </a:r>
            <a:endParaRPr lang="en-US" sz="1500" dirty="0"/>
          </a:p>
        </p:txBody>
      </p:sp>
      <p:sp>
        <p:nvSpPr>
          <p:cNvPr id="8" name="Shape 6"/>
          <p:cNvSpPr/>
          <p:nvPr/>
        </p:nvSpPr>
        <p:spPr>
          <a:xfrm>
            <a:off x="6126480" y="3108960"/>
            <a:ext cx="5394960" cy="777240"/>
          </a:xfrm>
          <a:prstGeom prst="rect">
            <a:avLst/>
          </a:prstGeom>
          <a:solidFill>
            <a:srgbClr val="F2F3FA"/>
          </a:solidFill>
          <a:ln/>
        </p:spPr>
      </p:sp>
      <p:sp>
        <p:nvSpPr>
          <p:cNvPr id="9" name="Text 7"/>
          <p:cNvSpPr txBox="1"/>
          <p:nvPr/>
        </p:nvSpPr>
        <p:spPr>
          <a:xfrm>
            <a:off x="6309360" y="3163824"/>
            <a:ext cx="5029200" cy="274320"/>
          </a:xfrm>
          <a:prstGeom prst="rect">
            <a:avLst/>
          </a:prstGeom>
          <a:noFill/>
          <a:ln/>
        </p:spPr>
        <p:txBody>
          <a:bodyPr wrap="square" rtlCol="0" anchor="ctr"/>
          <a:lstStyle/>
          <a:p>
            <a:pPr indent="0" marL="0">
              <a:buNone/>
            </a:pPr>
            <a:r>
              <a:rPr lang="en-US" sz="1250" b="1" dirty="0">
                <a:solidFill>
                  <a:srgbClr val="1A1F36"/>
                </a:solidFill>
                <a:latin typeface="Calibri" pitchFamily="34" charset="0"/>
                <a:ea typeface="Calibri" pitchFamily="34" charset="-122"/>
                <a:cs typeface="Calibri" pitchFamily="34" charset="-120"/>
              </a:rPr>
              <a:t>Classification</a:t>
            </a:r>
            <a:endParaRPr lang="en-US" sz="1250" dirty="0"/>
          </a:p>
        </p:txBody>
      </p:sp>
      <p:sp>
        <p:nvSpPr>
          <p:cNvPr id="10" name="Text 8"/>
          <p:cNvSpPr txBox="1"/>
          <p:nvPr/>
        </p:nvSpPr>
        <p:spPr>
          <a:xfrm>
            <a:off x="6309360" y="3447288"/>
            <a:ext cx="5029200" cy="384048"/>
          </a:xfrm>
          <a:prstGeom prst="rect">
            <a:avLst/>
          </a:prstGeom>
          <a:noFill/>
          <a:ln/>
        </p:spPr>
        <p:txBody>
          <a:bodyPr wrap="square" rtlCol="0" anchor="ctr"/>
          <a:lstStyle/>
          <a:p>
            <a:pPr indent="0" marL="0">
              <a:buNone/>
            </a:pPr>
            <a:r>
              <a:rPr lang="en-US" sz="1100" dirty="0">
                <a:solidFill>
                  <a:srgbClr val="8B92B3"/>
                </a:solidFill>
                <a:latin typeface="Calibri" pitchFamily="34" charset="0"/>
                <a:ea typeface="Calibri" pitchFamily="34" charset="-122"/>
                <a:cs typeface="Calibri" pitchFamily="34" charset="-120"/>
              </a:rPr>
              <a:t>Logistic Regression · Decision Tree · Random Forest · Gradient Boosting · KNN</a:t>
            </a:r>
            <a:endParaRPr lang="en-US" sz="1100" dirty="0"/>
          </a:p>
        </p:txBody>
      </p:sp>
      <p:sp>
        <p:nvSpPr>
          <p:cNvPr id="11" name="Shape 9"/>
          <p:cNvSpPr/>
          <p:nvPr/>
        </p:nvSpPr>
        <p:spPr>
          <a:xfrm>
            <a:off x="6126480" y="4005072"/>
            <a:ext cx="5394960" cy="777240"/>
          </a:xfrm>
          <a:prstGeom prst="rect">
            <a:avLst/>
          </a:prstGeom>
          <a:solidFill>
            <a:srgbClr val="F2F3FA"/>
          </a:solidFill>
          <a:ln/>
        </p:spPr>
      </p:sp>
      <p:sp>
        <p:nvSpPr>
          <p:cNvPr id="12" name="Text 10"/>
          <p:cNvSpPr txBox="1"/>
          <p:nvPr/>
        </p:nvSpPr>
        <p:spPr>
          <a:xfrm>
            <a:off x="6309360" y="4059936"/>
            <a:ext cx="5029200" cy="274320"/>
          </a:xfrm>
          <a:prstGeom prst="rect">
            <a:avLst/>
          </a:prstGeom>
          <a:noFill/>
          <a:ln/>
        </p:spPr>
        <p:txBody>
          <a:bodyPr wrap="square" rtlCol="0" anchor="ctr"/>
          <a:lstStyle/>
          <a:p>
            <a:pPr indent="0" marL="0">
              <a:buNone/>
            </a:pPr>
            <a:r>
              <a:rPr lang="en-US" sz="1250" b="1" dirty="0">
                <a:solidFill>
                  <a:srgbClr val="1A1F36"/>
                </a:solidFill>
                <a:latin typeface="Calibri" pitchFamily="34" charset="0"/>
                <a:ea typeface="Calibri" pitchFamily="34" charset="-122"/>
                <a:cs typeface="Calibri" pitchFamily="34" charset="-120"/>
              </a:rPr>
              <a:t>Regression</a:t>
            </a:r>
            <a:endParaRPr lang="en-US" sz="1250" dirty="0"/>
          </a:p>
        </p:txBody>
      </p:sp>
      <p:sp>
        <p:nvSpPr>
          <p:cNvPr id="13" name="Text 11"/>
          <p:cNvSpPr txBox="1"/>
          <p:nvPr/>
        </p:nvSpPr>
        <p:spPr>
          <a:xfrm>
            <a:off x="6309360" y="4343400"/>
            <a:ext cx="5029200" cy="384048"/>
          </a:xfrm>
          <a:prstGeom prst="rect">
            <a:avLst/>
          </a:prstGeom>
          <a:noFill/>
          <a:ln/>
        </p:spPr>
        <p:txBody>
          <a:bodyPr wrap="square" rtlCol="0" anchor="ctr"/>
          <a:lstStyle/>
          <a:p>
            <a:pPr indent="0" marL="0">
              <a:buNone/>
            </a:pPr>
            <a:r>
              <a:rPr lang="en-US" sz="1100" dirty="0">
                <a:solidFill>
                  <a:srgbClr val="8B92B3"/>
                </a:solidFill>
                <a:latin typeface="Calibri" pitchFamily="34" charset="0"/>
                <a:ea typeface="Calibri" pitchFamily="34" charset="-122"/>
                <a:cs typeface="Calibri" pitchFamily="34" charset="-120"/>
              </a:rPr>
              <a:t>Linear · Ridge · Lasso · Decision Tree · Random Forest · Gradient Boosting</a:t>
            </a:r>
            <a:endParaRPr lang="en-US" sz="1100" dirty="0"/>
          </a:p>
        </p:txBody>
      </p:sp>
      <p:sp>
        <p:nvSpPr>
          <p:cNvPr id="14" name="Shape 12"/>
          <p:cNvSpPr/>
          <p:nvPr/>
        </p:nvSpPr>
        <p:spPr>
          <a:xfrm>
            <a:off x="6126480" y="4901184"/>
            <a:ext cx="5394960" cy="777240"/>
          </a:xfrm>
          <a:prstGeom prst="rect">
            <a:avLst/>
          </a:prstGeom>
          <a:solidFill>
            <a:srgbClr val="F2F3FA"/>
          </a:solidFill>
          <a:ln/>
        </p:spPr>
      </p:sp>
      <p:sp>
        <p:nvSpPr>
          <p:cNvPr id="15" name="Text 13"/>
          <p:cNvSpPr txBox="1"/>
          <p:nvPr/>
        </p:nvSpPr>
        <p:spPr>
          <a:xfrm>
            <a:off x="6309360" y="4956048"/>
            <a:ext cx="5029200" cy="274320"/>
          </a:xfrm>
          <a:prstGeom prst="rect">
            <a:avLst/>
          </a:prstGeom>
          <a:noFill/>
          <a:ln/>
        </p:spPr>
        <p:txBody>
          <a:bodyPr wrap="square" rtlCol="0" anchor="ctr"/>
          <a:lstStyle/>
          <a:p>
            <a:pPr indent="0" marL="0">
              <a:buNone/>
            </a:pPr>
            <a:r>
              <a:rPr lang="en-US" sz="1250" b="1" dirty="0">
                <a:solidFill>
                  <a:srgbClr val="1A1F36"/>
                </a:solidFill>
                <a:latin typeface="Calibri" pitchFamily="34" charset="0"/>
                <a:ea typeface="Calibri" pitchFamily="34" charset="-122"/>
                <a:cs typeface="Calibri" pitchFamily="34" charset="-120"/>
              </a:rPr>
              <a:t>Clustering</a:t>
            </a:r>
            <a:endParaRPr lang="en-US" sz="1250" dirty="0"/>
          </a:p>
        </p:txBody>
      </p:sp>
      <p:sp>
        <p:nvSpPr>
          <p:cNvPr id="16" name="Text 14"/>
          <p:cNvSpPr txBox="1"/>
          <p:nvPr/>
        </p:nvSpPr>
        <p:spPr>
          <a:xfrm>
            <a:off x="6309360" y="5239512"/>
            <a:ext cx="5029200" cy="384048"/>
          </a:xfrm>
          <a:prstGeom prst="rect">
            <a:avLst/>
          </a:prstGeom>
          <a:noFill/>
          <a:ln/>
        </p:spPr>
        <p:txBody>
          <a:bodyPr wrap="square" rtlCol="0" anchor="ctr"/>
          <a:lstStyle/>
          <a:p>
            <a:pPr indent="0" marL="0">
              <a:buNone/>
            </a:pPr>
            <a:r>
              <a:rPr lang="en-US" sz="1100" dirty="0">
                <a:solidFill>
                  <a:srgbClr val="8B92B3"/>
                </a:solidFill>
                <a:latin typeface="Calibri" pitchFamily="34" charset="0"/>
                <a:ea typeface="Calibri" pitchFamily="34" charset="-122"/>
                <a:cs typeface="Calibri" pitchFamily="34" charset="-120"/>
              </a:rPr>
              <a:t>K-Means</a:t>
            </a:r>
            <a:endParaRPr lang="en-US" sz="1100" dirty="0"/>
          </a:p>
        </p:txBody>
      </p:sp>
      <p:sp>
        <p:nvSpPr>
          <p:cNvPr id="17" name="Text 15"/>
          <p:cNvSpPr txBox="1"/>
          <p:nvPr/>
        </p:nvSpPr>
        <p:spPr>
          <a:xfrm>
            <a:off x="640080" y="5897880"/>
            <a:ext cx="10881360" cy="548640"/>
          </a:xfrm>
          <a:prstGeom prst="rect">
            <a:avLst/>
          </a:prstGeom>
          <a:noFill/>
          <a:ln/>
        </p:spPr>
        <p:txBody>
          <a:bodyPr wrap="square" rtlCol="0" anchor="ctr"/>
          <a:lstStyle/>
          <a:p>
            <a:pPr indent="0" marL="0">
              <a:buNone/>
            </a:pPr>
            <a:r>
              <a:rPr lang="en-US" sz="1300" i="1" dirty="0">
                <a:solidFill>
                  <a:srgbClr val="8B92B3"/>
                </a:solidFill>
                <a:latin typeface="Calibri" pitchFamily="34" charset="0"/>
                <a:ea typeface="Calibri" pitchFamily="34" charset="-122"/>
                <a:cs typeface="Calibri" pitchFamily="34" charset="-120"/>
              </a:rPr>
              <a:t>Hyperparameter tuning: RandomizedSearchCV / GridSearchCV over a deliberately small search space, with before/after metrics shown to the user.</a:t>
            </a:r>
            <a:endParaRPr lang="en-US" sz="1300" dirty="0"/>
          </a:p>
        </p:txBody>
      </p:sp>
      <p:sp>
        <p:nvSpPr>
          <p:cNvPr id="18"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Design Flow</a:t>
            </a:r>
            <a:endParaRPr lang="en-US" sz="3000" dirty="0"/>
          </a:p>
        </p:txBody>
      </p:sp>
      <p:sp>
        <p:nvSpPr>
          <p:cNvPr id="3" name="Shape 1"/>
          <p:cNvSpPr/>
          <p:nvPr/>
        </p:nvSpPr>
        <p:spPr>
          <a:xfrm>
            <a:off x="640080" y="2834640"/>
            <a:ext cx="1358537" cy="1188720"/>
          </a:xfrm>
          <a:prstGeom prst="roundRect">
            <a:avLst>
              <a:gd name="adj" fmla="val 9231"/>
            </a:avLst>
          </a:prstGeom>
          <a:solidFill>
            <a:srgbClr val="1A1F36"/>
          </a:solidFill>
          <a:ln/>
        </p:spPr>
      </p:sp>
      <p:sp>
        <p:nvSpPr>
          <p:cNvPr id="4" name="Text 2"/>
          <p:cNvSpPr txBox="1"/>
          <p:nvPr/>
        </p:nvSpPr>
        <p:spPr>
          <a:xfrm>
            <a:off x="713232" y="2880360"/>
            <a:ext cx="548640" cy="274320"/>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1</a:t>
            </a:r>
            <a:endParaRPr lang="en-US" sz="1000" dirty="0"/>
          </a:p>
        </p:txBody>
      </p:sp>
      <p:sp>
        <p:nvSpPr>
          <p:cNvPr id="5" name="Text 3"/>
          <p:cNvSpPr txBox="1"/>
          <p:nvPr/>
        </p:nvSpPr>
        <p:spPr>
          <a:xfrm>
            <a:off x="640080" y="3108960"/>
            <a:ext cx="1358537"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Upload</a:t>
            </a:r>
            <a:endParaRPr lang="en-US" sz="1250" dirty="0"/>
          </a:p>
        </p:txBody>
      </p:sp>
      <p:sp>
        <p:nvSpPr>
          <p:cNvPr id="6" name="Shape 4"/>
          <p:cNvSpPr/>
          <p:nvPr/>
        </p:nvSpPr>
        <p:spPr>
          <a:xfrm>
            <a:off x="1998617" y="3337560"/>
            <a:ext cx="228600" cy="182880"/>
          </a:xfrm>
          <a:prstGeom prst="rightArrow">
            <a:avLst/>
          </a:prstGeom>
          <a:solidFill>
            <a:srgbClr val="8B92B3"/>
          </a:solidFill>
          <a:ln/>
        </p:spPr>
      </p:sp>
      <p:sp>
        <p:nvSpPr>
          <p:cNvPr id="7" name="Shape 5"/>
          <p:cNvSpPr/>
          <p:nvPr/>
        </p:nvSpPr>
        <p:spPr>
          <a:xfrm>
            <a:off x="2227217" y="2834640"/>
            <a:ext cx="1358537" cy="1188720"/>
          </a:xfrm>
          <a:prstGeom prst="roundRect">
            <a:avLst>
              <a:gd name="adj" fmla="val 9231"/>
            </a:avLst>
          </a:prstGeom>
          <a:solidFill>
            <a:srgbClr val="1A1F36"/>
          </a:solidFill>
          <a:ln/>
        </p:spPr>
      </p:sp>
      <p:sp>
        <p:nvSpPr>
          <p:cNvPr id="8" name="Text 6"/>
          <p:cNvSpPr txBox="1"/>
          <p:nvPr/>
        </p:nvSpPr>
        <p:spPr>
          <a:xfrm>
            <a:off x="2300369" y="2880360"/>
            <a:ext cx="548640" cy="274320"/>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2</a:t>
            </a:r>
            <a:endParaRPr lang="en-US" sz="1000" dirty="0"/>
          </a:p>
        </p:txBody>
      </p:sp>
      <p:sp>
        <p:nvSpPr>
          <p:cNvPr id="9" name="Text 7"/>
          <p:cNvSpPr txBox="1"/>
          <p:nvPr/>
        </p:nvSpPr>
        <p:spPr>
          <a:xfrm>
            <a:off x="2227217" y="3108960"/>
            <a:ext cx="1358537"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Profile</a:t>
            </a:r>
            <a:endParaRPr lang="en-US" sz="1250" dirty="0"/>
          </a:p>
        </p:txBody>
      </p:sp>
      <p:sp>
        <p:nvSpPr>
          <p:cNvPr id="10" name="Shape 8"/>
          <p:cNvSpPr/>
          <p:nvPr/>
        </p:nvSpPr>
        <p:spPr>
          <a:xfrm>
            <a:off x="3585754" y="3337560"/>
            <a:ext cx="228600" cy="182880"/>
          </a:xfrm>
          <a:prstGeom prst="rightArrow">
            <a:avLst/>
          </a:prstGeom>
          <a:solidFill>
            <a:srgbClr val="8B92B3"/>
          </a:solidFill>
          <a:ln/>
        </p:spPr>
      </p:sp>
      <p:sp>
        <p:nvSpPr>
          <p:cNvPr id="11" name="Shape 9"/>
          <p:cNvSpPr/>
          <p:nvPr/>
        </p:nvSpPr>
        <p:spPr>
          <a:xfrm>
            <a:off x="3814354" y="2834640"/>
            <a:ext cx="1358537" cy="1188720"/>
          </a:xfrm>
          <a:prstGeom prst="roundRect">
            <a:avLst>
              <a:gd name="adj" fmla="val 9231"/>
            </a:avLst>
          </a:prstGeom>
          <a:solidFill>
            <a:srgbClr val="1A1F36"/>
          </a:solidFill>
          <a:ln/>
        </p:spPr>
      </p:sp>
      <p:sp>
        <p:nvSpPr>
          <p:cNvPr id="12" name="Text 10"/>
          <p:cNvSpPr txBox="1"/>
          <p:nvPr/>
        </p:nvSpPr>
        <p:spPr>
          <a:xfrm>
            <a:off x="3887506" y="2880360"/>
            <a:ext cx="548640" cy="274320"/>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3</a:t>
            </a:r>
            <a:endParaRPr lang="en-US" sz="1000" dirty="0"/>
          </a:p>
        </p:txBody>
      </p:sp>
      <p:sp>
        <p:nvSpPr>
          <p:cNvPr id="13" name="Text 11"/>
          <p:cNvSpPr txBox="1"/>
          <p:nvPr/>
        </p:nvSpPr>
        <p:spPr>
          <a:xfrm>
            <a:off x="3814354" y="3108960"/>
            <a:ext cx="1358537"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Clean</a:t>
            </a:r>
            <a:endParaRPr lang="en-US" sz="1250" dirty="0"/>
          </a:p>
        </p:txBody>
      </p:sp>
      <p:sp>
        <p:nvSpPr>
          <p:cNvPr id="14" name="Shape 12"/>
          <p:cNvSpPr/>
          <p:nvPr/>
        </p:nvSpPr>
        <p:spPr>
          <a:xfrm>
            <a:off x="5172891" y="3337560"/>
            <a:ext cx="228600" cy="182880"/>
          </a:xfrm>
          <a:prstGeom prst="rightArrow">
            <a:avLst/>
          </a:prstGeom>
          <a:solidFill>
            <a:srgbClr val="8B92B3"/>
          </a:solidFill>
          <a:ln/>
        </p:spPr>
      </p:sp>
      <p:sp>
        <p:nvSpPr>
          <p:cNvPr id="15" name="Shape 13"/>
          <p:cNvSpPr/>
          <p:nvPr/>
        </p:nvSpPr>
        <p:spPr>
          <a:xfrm>
            <a:off x="5401491" y="2834640"/>
            <a:ext cx="1358537" cy="1188720"/>
          </a:xfrm>
          <a:prstGeom prst="roundRect">
            <a:avLst>
              <a:gd name="adj" fmla="val 9231"/>
            </a:avLst>
          </a:prstGeom>
          <a:solidFill>
            <a:srgbClr val="4F46E5"/>
          </a:solidFill>
          <a:ln/>
        </p:spPr>
      </p:sp>
      <p:sp>
        <p:nvSpPr>
          <p:cNvPr id="16" name="Text 14"/>
          <p:cNvSpPr txBox="1"/>
          <p:nvPr/>
        </p:nvSpPr>
        <p:spPr>
          <a:xfrm>
            <a:off x="5474643" y="2880360"/>
            <a:ext cx="548640" cy="274320"/>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4</a:t>
            </a:r>
            <a:endParaRPr lang="en-US" sz="1000" dirty="0"/>
          </a:p>
        </p:txBody>
      </p:sp>
      <p:sp>
        <p:nvSpPr>
          <p:cNvPr id="17" name="Text 15"/>
          <p:cNvSpPr txBox="1"/>
          <p:nvPr/>
        </p:nvSpPr>
        <p:spPr>
          <a:xfrm>
            <a:off x="5401491" y="3108960"/>
            <a:ext cx="1358537"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Explore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&amp; Ask</a:t>
            </a:r>
            <a:endParaRPr lang="en-US" sz="1250" dirty="0"/>
          </a:p>
        </p:txBody>
      </p:sp>
      <p:sp>
        <p:nvSpPr>
          <p:cNvPr id="18" name="Shape 16"/>
          <p:cNvSpPr/>
          <p:nvPr/>
        </p:nvSpPr>
        <p:spPr>
          <a:xfrm>
            <a:off x="6760029" y="3337560"/>
            <a:ext cx="228600" cy="182880"/>
          </a:xfrm>
          <a:prstGeom prst="rightArrow">
            <a:avLst/>
          </a:prstGeom>
          <a:solidFill>
            <a:srgbClr val="8B92B3"/>
          </a:solidFill>
          <a:ln/>
        </p:spPr>
      </p:sp>
      <p:sp>
        <p:nvSpPr>
          <p:cNvPr id="19" name="Shape 17"/>
          <p:cNvSpPr/>
          <p:nvPr/>
        </p:nvSpPr>
        <p:spPr>
          <a:xfrm>
            <a:off x="6988629" y="2834640"/>
            <a:ext cx="1358537" cy="1188720"/>
          </a:xfrm>
          <a:prstGeom prst="roundRect">
            <a:avLst>
              <a:gd name="adj" fmla="val 9231"/>
            </a:avLst>
          </a:prstGeom>
          <a:solidFill>
            <a:srgbClr val="4F46E5"/>
          </a:solidFill>
          <a:ln/>
        </p:spPr>
      </p:sp>
      <p:sp>
        <p:nvSpPr>
          <p:cNvPr id="20" name="Text 18"/>
          <p:cNvSpPr txBox="1"/>
          <p:nvPr/>
        </p:nvSpPr>
        <p:spPr>
          <a:xfrm>
            <a:off x="7061781" y="2880360"/>
            <a:ext cx="548640" cy="274320"/>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5</a:t>
            </a:r>
            <a:endParaRPr lang="en-US" sz="1000" dirty="0"/>
          </a:p>
        </p:txBody>
      </p:sp>
      <p:sp>
        <p:nvSpPr>
          <p:cNvPr id="21" name="Text 19"/>
          <p:cNvSpPr txBox="1"/>
          <p:nvPr/>
        </p:nvSpPr>
        <p:spPr>
          <a:xfrm>
            <a:off x="6988629" y="3108960"/>
            <a:ext cx="1358537"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Train ML</a:t>
            </a:r>
            <a:endParaRPr lang="en-US" sz="1250" dirty="0"/>
          </a:p>
        </p:txBody>
      </p:sp>
      <p:sp>
        <p:nvSpPr>
          <p:cNvPr id="22" name="Shape 20"/>
          <p:cNvSpPr/>
          <p:nvPr/>
        </p:nvSpPr>
        <p:spPr>
          <a:xfrm>
            <a:off x="8347166" y="3337560"/>
            <a:ext cx="228600" cy="182880"/>
          </a:xfrm>
          <a:prstGeom prst="rightArrow">
            <a:avLst/>
          </a:prstGeom>
          <a:solidFill>
            <a:srgbClr val="8B92B3"/>
          </a:solidFill>
          <a:ln/>
        </p:spPr>
      </p:sp>
      <p:sp>
        <p:nvSpPr>
          <p:cNvPr id="23" name="Shape 21"/>
          <p:cNvSpPr/>
          <p:nvPr/>
        </p:nvSpPr>
        <p:spPr>
          <a:xfrm>
            <a:off x="8575766" y="2834640"/>
            <a:ext cx="1358537" cy="1188720"/>
          </a:xfrm>
          <a:prstGeom prst="roundRect">
            <a:avLst>
              <a:gd name="adj" fmla="val 9231"/>
            </a:avLst>
          </a:prstGeom>
          <a:solidFill>
            <a:srgbClr val="16A34A"/>
          </a:solidFill>
          <a:ln/>
        </p:spPr>
      </p:sp>
      <p:sp>
        <p:nvSpPr>
          <p:cNvPr id="24" name="Text 22"/>
          <p:cNvSpPr txBox="1"/>
          <p:nvPr/>
        </p:nvSpPr>
        <p:spPr>
          <a:xfrm>
            <a:off x="8648918" y="2880360"/>
            <a:ext cx="548640" cy="274320"/>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6</a:t>
            </a:r>
            <a:endParaRPr lang="en-US" sz="1000" dirty="0"/>
          </a:p>
        </p:txBody>
      </p:sp>
      <p:sp>
        <p:nvSpPr>
          <p:cNvPr id="25" name="Text 23"/>
          <p:cNvSpPr txBox="1"/>
          <p:nvPr/>
        </p:nvSpPr>
        <p:spPr>
          <a:xfrm>
            <a:off x="8575766" y="3108960"/>
            <a:ext cx="1358537"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Compare &amp;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Explain</a:t>
            </a:r>
            <a:endParaRPr lang="en-US" sz="1250" dirty="0"/>
          </a:p>
        </p:txBody>
      </p:sp>
      <p:sp>
        <p:nvSpPr>
          <p:cNvPr id="26" name="Shape 24"/>
          <p:cNvSpPr/>
          <p:nvPr/>
        </p:nvSpPr>
        <p:spPr>
          <a:xfrm>
            <a:off x="9934303" y="3337560"/>
            <a:ext cx="228600" cy="182880"/>
          </a:xfrm>
          <a:prstGeom prst="rightArrow">
            <a:avLst/>
          </a:prstGeom>
          <a:solidFill>
            <a:srgbClr val="8B92B3"/>
          </a:solidFill>
          <a:ln/>
        </p:spPr>
      </p:sp>
      <p:sp>
        <p:nvSpPr>
          <p:cNvPr id="27" name="Shape 25"/>
          <p:cNvSpPr/>
          <p:nvPr/>
        </p:nvSpPr>
        <p:spPr>
          <a:xfrm>
            <a:off x="10162903" y="2834640"/>
            <a:ext cx="1358537" cy="1188720"/>
          </a:xfrm>
          <a:prstGeom prst="roundRect">
            <a:avLst>
              <a:gd name="adj" fmla="val 9231"/>
            </a:avLst>
          </a:prstGeom>
          <a:solidFill>
            <a:srgbClr val="16A34A"/>
          </a:solidFill>
          <a:ln/>
        </p:spPr>
      </p:sp>
      <p:sp>
        <p:nvSpPr>
          <p:cNvPr id="28" name="Text 26"/>
          <p:cNvSpPr txBox="1"/>
          <p:nvPr/>
        </p:nvSpPr>
        <p:spPr>
          <a:xfrm>
            <a:off x="10236055" y="2880360"/>
            <a:ext cx="548640" cy="274320"/>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7</a:t>
            </a:r>
            <a:endParaRPr lang="en-US" sz="1000" dirty="0"/>
          </a:p>
        </p:txBody>
      </p:sp>
      <p:sp>
        <p:nvSpPr>
          <p:cNvPr id="29" name="Text 27"/>
          <p:cNvSpPr txBox="1"/>
          <p:nvPr/>
        </p:nvSpPr>
        <p:spPr>
          <a:xfrm>
            <a:off x="10162903" y="3108960"/>
            <a:ext cx="1358537"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Predict &amp;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Report</a:t>
            </a:r>
            <a:endParaRPr lang="en-US" sz="1250" dirty="0"/>
          </a:p>
        </p:txBody>
      </p:sp>
      <p:sp>
        <p:nvSpPr>
          <p:cNvPr id="30" name="Text 28"/>
          <p:cNvSpPr txBox="1"/>
          <p:nvPr/>
        </p:nvSpPr>
        <p:spPr>
          <a:xfrm>
            <a:off x="640080" y="4480560"/>
            <a:ext cx="10881360" cy="1188720"/>
          </a:xfrm>
          <a:prstGeom prst="rect">
            <a:avLst/>
          </a:prstGeom>
          <a:noFill/>
          <a:ln/>
        </p:spPr>
        <p:txBody>
          <a:bodyPr wrap="square" rtlCol="0" anchor="ctr"/>
          <a:lstStyle/>
          <a:p>
            <a:pPr indent="0" marL="0">
              <a:lnSpc>
                <a:spcPts val="2200"/>
              </a:lnSpc>
              <a:buNone/>
            </a:pPr>
            <a:r>
              <a:rPr lang="en-US" sz="1450" dirty="0">
                <a:solidFill>
                  <a:srgbClr val="1A1F36"/>
                </a:solidFill>
                <a:latin typeface="Calibri" pitchFamily="34" charset="0"/>
                <a:ea typeface="Calibri" pitchFamily="34" charset="-122"/>
                <a:cs typeface="Calibri" pitchFamily="34" charset="-120"/>
              </a:rPr>
              <a:t>Each stage maps to a dedicated backend agent. A dataset moves left to right through the pipeline; the user can jump back to any stage (e.g. re-clean) without losing downstream work, because the original and working datasets are always kept separate.</a:t>
            </a:r>
            <a:endParaRPr lang="en-US" sz="1450" dirty="0"/>
          </a:p>
        </p:txBody>
      </p:sp>
      <p:sp>
        <p:nvSpPr>
          <p:cNvPr id="31"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Block Diagram</a:t>
            </a:r>
            <a:endParaRPr lang="en-US" sz="3000" dirty="0"/>
          </a:p>
        </p:txBody>
      </p:sp>
      <p:sp>
        <p:nvSpPr>
          <p:cNvPr id="3" name="Shape 1"/>
          <p:cNvSpPr/>
          <p:nvPr/>
        </p:nvSpPr>
        <p:spPr>
          <a:xfrm>
            <a:off x="2651760" y="1554480"/>
            <a:ext cx="6858000" cy="914400"/>
          </a:xfrm>
          <a:prstGeom prst="roundRect">
            <a:avLst>
              <a:gd name="adj" fmla="val 10000"/>
            </a:avLst>
          </a:prstGeom>
          <a:solidFill>
            <a:srgbClr val="4F46E5"/>
          </a:solidFill>
          <a:ln/>
        </p:spPr>
      </p:sp>
      <p:sp>
        <p:nvSpPr>
          <p:cNvPr id="4" name="Text 2"/>
          <p:cNvSpPr txBox="1"/>
          <p:nvPr/>
        </p:nvSpPr>
        <p:spPr>
          <a:xfrm>
            <a:off x="2651760" y="1554480"/>
            <a:ext cx="6858000" cy="9144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Frontend — React + Vite + TypeScript + Tailwind</a:t>
            </a:r>
            <a:endParaRPr lang="en-US" sz="1500" dirty="0"/>
          </a:p>
        </p:txBody>
      </p:sp>
      <p:sp>
        <p:nvSpPr>
          <p:cNvPr id="5" name="Shape 3"/>
          <p:cNvSpPr/>
          <p:nvPr/>
        </p:nvSpPr>
        <p:spPr>
          <a:xfrm>
            <a:off x="5870448" y="2487168"/>
            <a:ext cx="411480" cy="411480"/>
          </a:xfrm>
          <a:prstGeom prst="downArrow">
            <a:avLst/>
          </a:prstGeom>
          <a:solidFill>
            <a:srgbClr val="8B92B3"/>
          </a:solidFill>
          <a:ln/>
        </p:spPr>
      </p:sp>
      <p:sp>
        <p:nvSpPr>
          <p:cNvPr id="6" name="Text 4"/>
          <p:cNvSpPr txBox="1"/>
          <p:nvPr/>
        </p:nvSpPr>
        <p:spPr>
          <a:xfrm>
            <a:off x="6400800" y="2523744"/>
            <a:ext cx="3108960" cy="365760"/>
          </a:xfrm>
          <a:prstGeom prst="rect">
            <a:avLst/>
          </a:prstGeom>
          <a:noFill/>
          <a:ln/>
        </p:spPr>
        <p:txBody>
          <a:bodyPr wrap="square" rtlCol="0" anchor="ctr"/>
          <a:lstStyle/>
          <a:p>
            <a:pPr algn="l" indent="0" marL="0">
              <a:buNone/>
            </a:pPr>
            <a:r>
              <a:rPr lang="en-US" sz="1050" i="1" dirty="0">
                <a:solidFill>
                  <a:srgbClr val="8B92B3"/>
                </a:solidFill>
                <a:latin typeface="Calibri" pitchFamily="34" charset="0"/>
                <a:ea typeface="Calibri" pitchFamily="34" charset="-122"/>
                <a:cs typeface="Calibri" pitchFamily="34" charset="-120"/>
              </a:rPr>
              <a:t>REST API (JSON over HTTPS)</a:t>
            </a:r>
            <a:endParaRPr lang="en-US" sz="1050" dirty="0"/>
          </a:p>
        </p:txBody>
      </p:sp>
      <p:sp>
        <p:nvSpPr>
          <p:cNvPr id="7" name="Shape 5"/>
          <p:cNvSpPr/>
          <p:nvPr/>
        </p:nvSpPr>
        <p:spPr>
          <a:xfrm>
            <a:off x="2651760" y="3017520"/>
            <a:ext cx="6858000" cy="914400"/>
          </a:xfrm>
          <a:prstGeom prst="roundRect">
            <a:avLst>
              <a:gd name="adj" fmla="val 10000"/>
            </a:avLst>
          </a:prstGeom>
          <a:solidFill>
            <a:srgbClr val="1A1F36"/>
          </a:solidFill>
          <a:ln/>
        </p:spPr>
      </p:sp>
      <p:sp>
        <p:nvSpPr>
          <p:cNvPr id="8" name="Text 6"/>
          <p:cNvSpPr txBox="1"/>
          <p:nvPr/>
        </p:nvSpPr>
        <p:spPr>
          <a:xfrm>
            <a:off x="2651760" y="3017520"/>
            <a:ext cx="68580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Backend — FastAPI (Agents · ML Pipeline · SQL Guard · RAG · Reports)</a:t>
            </a:r>
            <a:endParaRPr lang="en-US" sz="1400" dirty="0"/>
          </a:p>
        </p:txBody>
      </p:sp>
      <p:sp>
        <p:nvSpPr>
          <p:cNvPr id="9" name="Shape 7"/>
          <p:cNvSpPr/>
          <p:nvPr/>
        </p:nvSpPr>
        <p:spPr>
          <a:xfrm>
            <a:off x="5870448" y="3950208"/>
            <a:ext cx="411480" cy="411480"/>
          </a:xfrm>
          <a:prstGeom prst="downArrow">
            <a:avLst/>
          </a:prstGeom>
          <a:solidFill>
            <a:srgbClr val="8B92B3"/>
          </a:solidFill>
          <a:ln/>
        </p:spPr>
      </p:sp>
      <p:sp>
        <p:nvSpPr>
          <p:cNvPr id="10" name="Shape 8"/>
          <p:cNvSpPr/>
          <p:nvPr/>
        </p:nvSpPr>
        <p:spPr>
          <a:xfrm>
            <a:off x="640080" y="4480560"/>
            <a:ext cx="2548890" cy="1051560"/>
          </a:xfrm>
          <a:prstGeom prst="roundRect">
            <a:avLst>
              <a:gd name="adj" fmla="val 8696"/>
            </a:avLst>
          </a:prstGeom>
          <a:solidFill>
            <a:srgbClr val="F2F3FA"/>
          </a:solidFill>
          <a:ln w="12700">
            <a:solidFill>
              <a:srgbClr val="E3E6E4"/>
            </a:solidFill>
            <a:prstDash val="solid"/>
          </a:ln>
        </p:spPr>
      </p:sp>
      <p:sp>
        <p:nvSpPr>
          <p:cNvPr id="11" name="Text 9"/>
          <p:cNvSpPr txBox="1"/>
          <p:nvPr/>
        </p:nvSpPr>
        <p:spPr>
          <a:xfrm>
            <a:off x="640080" y="4572000"/>
            <a:ext cx="2548890" cy="411480"/>
          </a:xfrm>
          <a:prstGeom prst="rect">
            <a:avLst/>
          </a:prstGeom>
          <a:noFill/>
          <a:ln/>
        </p:spPr>
        <p:txBody>
          <a:bodyPr wrap="square" rtlCol="0" anchor="ctr"/>
          <a:lstStyle/>
          <a:p>
            <a:pPr algn="ctr" indent="0" marL="0">
              <a:buNone/>
            </a:pPr>
            <a:r>
              <a:rPr lang="en-US" sz="1400" b="1" dirty="0">
                <a:solidFill>
                  <a:srgbClr val="1A1F36"/>
                </a:solidFill>
                <a:latin typeface="Calibri" pitchFamily="34" charset="0"/>
                <a:ea typeface="Calibri" pitchFamily="34" charset="-122"/>
                <a:cs typeface="Calibri" pitchFamily="34" charset="-120"/>
              </a:rPr>
              <a:t>SQLite</a:t>
            </a:r>
            <a:endParaRPr lang="en-US" sz="1400" dirty="0"/>
          </a:p>
        </p:txBody>
      </p:sp>
      <p:sp>
        <p:nvSpPr>
          <p:cNvPr id="12" name="Text 10"/>
          <p:cNvSpPr txBox="1"/>
          <p:nvPr/>
        </p:nvSpPr>
        <p:spPr>
          <a:xfrm>
            <a:off x="731520" y="4983480"/>
            <a:ext cx="2366010" cy="457200"/>
          </a:xfrm>
          <a:prstGeom prst="rect">
            <a:avLst/>
          </a:prstGeom>
          <a:noFill/>
          <a:ln/>
        </p:spPr>
        <p:txBody>
          <a:bodyPr wrap="square" rtlCol="0" anchor="ctr"/>
          <a:lstStyle/>
          <a:p>
            <a:pPr algn="ctr" indent="0" marL="0">
              <a:buNone/>
            </a:pPr>
            <a:r>
              <a:rPr lang="en-US" sz="1050" dirty="0">
                <a:solidFill>
                  <a:srgbClr val="8B92B3"/>
                </a:solidFill>
                <a:latin typeface="Calibri" pitchFamily="34" charset="0"/>
                <a:ea typeface="Calibri" pitchFamily="34" charset="-122"/>
                <a:cs typeface="Calibri" pitchFamily="34" charset="-120"/>
              </a:rPr>
              <a:t>App metadata</a:t>
            </a:r>
            <a:endParaRPr lang="en-US" sz="1050" dirty="0"/>
          </a:p>
        </p:txBody>
      </p:sp>
      <p:sp>
        <p:nvSpPr>
          <p:cNvPr id="13" name="Shape 11"/>
          <p:cNvSpPr/>
          <p:nvPr/>
        </p:nvSpPr>
        <p:spPr>
          <a:xfrm>
            <a:off x="3417570" y="4480560"/>
            <a:ext cx="2548890" cy="1051560"/>
          </a:xfrm>
          <a:prstGeom prst="roundRect">
            <a:avLst>
              <a:gd name="adj" fmla="val 8696"/>
            </a:avLst>
          </a:prstGeom>
          <a:solidFill>
            <a:srgbClr val="F2F3FA"/>
          </a:solidFill>
          <a:ln w="12700">
            <a:solidFill>
              <a:srgbClr val="E3E6E4"/>
            </a:solidFill>
            <a:prstDash val="solid"/>
          </a:ln>
        </p:spPr>
      </p:sp>
      <p:sp>
        <p:nvSpPr>
          <p:cNvPr id="14" name="Text 12"/>
          <p:cNvSpPr txBox="1"/>
          <p:nvPr/>
        </p:nvSpPr>
        <p:spPr>
          <a:xfrm>
            <a:off x="3417570" y="4572000"/>
            <a:ext cx="2548890" cy="411480"/>
          </a:xfrm>
          <a:prstGeom prst="rect">
            <a:avLst/>
          </a:prstGeom>
          <a:noFill/>
          <a:ln/>
        </p:spPr>
        <p:txBody>
          <a:bodyPr wrap="square" rtlCol="0" anchor="ctr"/>
          <a:lstStyle/>
          <a:p>
            <a:pPr algn="ctr" indent="0" marL="0">
              <a:buNone/>
            </a:pPr>
            <a:r>
              <a:rPr lang="en-US" sz="1400" b="1" dirty="0">
                <a:solidFill>
                  <a:srgbClr val="1A1F36"/>
                </a:solidFill>
                <a:latin typeface="Calibri" pitchFamily="34" charset="0"/>
                <a:ea typeface="Calibri" pitchFamily="34" charset="-122"/>
                <a:cs typeface="Calibri" pitchFamily="34" charset="-120"/>
              </a:rPr>
              <a:t>DuckDB</a:t>
            </a:r>
            <a:endParaRPr lang="en-US" sz="1400" dirty="0"/>
          </a:p>
        </p:txBody>
      </p:sp>
      <p:sp>
        <p:nvSpPr>
          <p:cNvPr id="15" name="Text 13"/>
          <p:cNvSpPr txBox="1"/>
          <p:nvPr/>
        </p:nvSpPr>
        <p:spPr>
          <a:xfrm>
            <a:off x="3509010" y="4983480"/>
            <a:ext cx="2366010" cy="457200"/>
          </a:xfrm>
          <a:prstGeom prst="rect">
            <a:avLst/>
          </a:prstGeom>
          <a:noFill/>
          <a:ln/>
        </p:spPr>
        <p:txBody>
          <a:bodyPr wrap="square" rtlCol="0" anchor="ctr"/>
          <a:lstStyle/>
          <a:p>
            <a:pPr algn="ctr" indent="0" marL="0">
              <a:buNone/>
            </a:pPr>
            <a:r>
              <a:rPr lang="en-US" sz="1050" dirty="0">
                <a:solidFill>
                  <a:srgbClr val="8B92B3"/>
                </a:solidFill>
                <a:latin typeface="Calibri" pitchFamily="34" charset="0"/>
                <a:ea typeface="Calibri" pitchFamily="34" charset="-122"/>
                <a:cs typeface="Calibri" pitchFamily="34" charset="-120"/>
              </a:rPr>
              <a:t>Analytical SQL</a:t>
            </a:r>
            <a:endParaRPr lang="en-US" sz="1050" dirty="0"/>
          </a:p>
        </p:txBody>
      </p:sp>
      <p:sp>
        <p:nvSpPr>
          <p:cNvPr id="16" name="Shape 14"/>
          <p:cNvSpPr/>
          <p:nvPr/>
        </p:nvSpPr>
        <p:spPr>
          <a:xfrm>
            <a:off x="6195060" y="4480560"/>
            <a:ext cx="2548890" cy="1051560"/>
          </a:xfrm>
          <a:prstGeom prst="roundRect">
            <a:avLst>
              <a:gd name="adj" fmla="val 8696"/>
            </a:avLst>
          </a:prstGeom>
          <a:solidFill>
            <a:srgbClr val="F2F3FA"/>
          </a:solidFill>
          <a:ln w="12700">
            <a:solidFill>
              <a:srgbClr val="E3E6E4"/>
            </a:solidFill>
            <a:prstDash val="solid"/>
          </a:ln>
        </p:spPr>
      </p:sp>
      <p:sp>
        <p:nvSpPr>
          <p:cNvPr id="17" name="Text 15"/>
          <p:cNvSpPr txBox="1"/>
          <p:nvPr/>
        </p:nvSpPr>
        <p:spPr>
          <a:xfrm>
            <a:off x="6195060" y="4572000"/>
            <a:ext cx="2548890" cy="411480"/>
          </a:xfrm>
          <a:prstGeom prst="rect">
            <a:avLst/>
          </a:prstGeom>
          <a:noFill/>
          <a:ln/>
        </p:spPr>
        <p:txBody>
          <a:bodyPr wrap="square" rtlCol="0" anchor="ctr"/>
          <a:lstStyle/>
          <a:p>
            <a:pPr algn="ctr" indent="0" marL="0">
              <a:buNone/>
            </a:pPr>
            <a:r>
              <a:rPr lang="en-US" sz="1400" b="1" dirty="0">
                <a:solidFill>
                  <a:srgbClr val="1A1F36"/>
                </a:solidFill>
                <a:latin typeface="Calibri" pitchFamily="34" charset="0"/>
                <a:ea typeface="Calibri" pitchFamily="34" charset="-122"/>
                <a:cs typeface="Calibri" pitchFamily="34" charset="-120"/>
              </a:rPr>
              <a:t>joblib</a:t>
            </a:r>
            <a:endParaRPr lang="en-US" sz="1400" dirty="0"/>
          </a:p>
        </p:txBody>
      </p:sp>
      <p:sp>
        <p:nvSpPr>
          <p:cNvPr id="18" name="Text 16"/>
          <p:cNvSpPr txBox="1"/>
          <p:nvPr/>
        </p:nvSpPr>
        <p:spPr>
          <a:xfrm>
            <a:off x="6286500" y="4983480"/>
            <a:ext cx="2366010" cy="457200"/>
          </a:xfrm>
          <a:prstGeom prst="rect">
            <a:avLst/>
          </a:prstGeom>
          <a:noFill/>
          <a:ln/>
        </p:spPr>
        <p:txBody>
          <a:bodyPr wrap="square" rtlCol="0" anchor="ctr"/>
          <a:lstStyle/>
          <a:p>
            <a:pPr algn="ctr" indent="0" marL="0">
              <a:buNone/>
            </a:pPr>
            <a:r>
              <a:rPr lang="en-US" sz="1050" dirty="0">
                <a:solidFill>
                  <a:srgbClr val="8B92B3"/>
                </a:solidFill>
                <a:latin typeface="Calibri" pitchFamily="34" charset="0"/>
                <a:ea typeface="Calibri" pitchFamily="34" charset="-122"/>
                <a:cs typeface="Calibri" pitchFamily="34" charset="-120"/>
              </a:rPr>
              <a:t>Saved models</a:t>
            </a:r>
            <a:endParaRPr lang="en-US" sz="1050" dirty="0"/>
          </a:p>
        </p:txBody>
      </p:sp>
      <p:sp>
        <p:nvSpPr>
          <p:cNvPr id="19" name="Shape 17"/>
          <p:cNvSpPr/>
          <p:nvPr/>
        </p:nvSpPr>
        <p:spPr>
          <a:xfrm>
            <a:off x="8972550" y="4480560"/>
            <a:ext cx="2548890" cy="1051560"/>
          </a:xfrm>
          <a:prstGeom prst="roundRect">
            <a:avLst>
              <a:gd name="adj" fmla="val 8696"/>
            </a:avLst>
          </a:prstGeom>
          <a:solidFill>
            <a:srgbClr val="F2F3FA"/>
          </a:solidFill>
          <a:ln w="12700">
            <a:solidFill>
              <a:srgbClr val="E3E6E4"/>
            </a:solidFill>
            <a:prstDash val="solid"/>
          </a:ln>
        </p:spPr>
      </p:sp>
      <p:sp>
        <p:nvSpPr>
          <p:cNvPr id="20" name="Text 18"/>
          <p:cNvSpPr txBox="1"/>
          <p:nvPr/>
        </p:nvSpPr>
        <p:spPr>
          <a:xfrm>
            <a:off x="8972550" y="4572000"/>
            <a:ext cx="2548890" cy="411480"/>
          </a:xfrm>
          <a:prstGeom prst="rect">
            <a:avLst/>
          </a:prstGeom>
          <a:noFill/>
          <a:ln/>
        </p:spPr>
        <p:txBody>
          <a:bodyPr wrap="square" rtlCol="0" anchor="ctr"/>
          <a:lstStyle/>
          <a:p>
            <a:pPr algn="ctr" indent="0" marL="0">
              <a:buNone/>
            </a:pPr>
            <a:r>
              <a:rPr lang="en-US" sz="1400" b="1" dirty="0">
                <a:solidFill>
                  <a:srgbClr val="1A1F36"/>
                </a:solidFill>
                <a:latin typeface="Calibri" pitchFamily="34" charset="0"/>
                <a:ea typeface="Calibri" pitchFamily="34" charset="-122"/>
                <a:cs typeface="Calibri" pitchFamily="34" charset="-120"/>
              </a:rPr>
              <a:t>Claude API</a:t>
            </a:r>
            <a:endParaRPr lang="en-US" sz="1400" dirty="0"/>
          </a:p>
        </p:txBody>
      </p:sp>
      <p:sp>
        <p:nvSpPr>
          <p:cNvPr id="21" name="Text 19"/>
          <p:cNvSpPr txBox="1"/>
          <p:nvPr/>
        </p:nvSpPr>
        <p:spPr>
          <a:xfrm>
            <a:off x="9063990" y="4983480"/>
            <a:ext cx="2366010" cy="457200"/>
          </a:xfrm>
          <a:prstGeom prst="rect">
            <a:avLst/>
          </a:prstGeom>
          <a:noFill/>
          <a:ln/>
        </p:spPr>
        <p:txBody>
          <a:bodyPr wrap="square" rtlCol="0" anchor="ctr"/>
          <a:lstStyle/>
          <a:p>
            <a:pPr algn="ctr" indent="0" marL="0">
              <a:buNone/>
            </a:pPr>
            <a:r>
              <a:rPr lang="en-US" sz="1050" dirty="0">
                <a:solidFill>
                  <a:srgbClr val="8B92B3"/>
                </a:solidFill>
                <a:latin typeface="Calibri" pitchFamily="34" charset="0"/>
                <a:ea typeface="Calibri" pitchFamily="34" charset="-122"/>
                <a:cs typeface="Calibri" pitchFamily="34" charset="-120"/>
              </a:rPr>
              <a:t>Explanations (optional)</a:t>
            </a:r>
            <a:endParaRPr lang="en-US" sz="1050" dirty="0"/>
          </a:p>
        </p:txBody>
      </p:sp>
      <p:sp>
        <p:nvSpPr>
          <p:cNvPr id="22" name="Text 20"/>
          <p:cNvSpPr txBox="1"/>
          <p:nvPr/>
        </p:nvSpPr>
        <p:spPr>
          <a:xfrm>
            <a:off x="640080" y="5760720"/>
            <a:ext cx="10881360" cy="457200"/>
          </a:xfrm>
          <a:prstGeom prst="rect">
            <a:avLst/>
          </a:prstGeom>
          <a:noFill/>
          <a:ln/>
        </p:spPr>
        <p:txBody>
          <a:bodyPr wrap="square" rtlCol="0" anchor="ctr"/>
          <a:lstStyle/>
          <a:p>
            <a:pPr indent="0" marL="0">
              <a:buNone/>
            </a:pPr>
            <a:r>
              <a:rPr lang="en-US" sz="1200" i="1" dirty="0">
                <a:solidFill>
                  <a:srgbClr val="8B92B3"/>
                </a:solidFill>
                <a:latin typeface="Calibri" pitchFamily="34" charset="0"/>
                <a:ea typeface="Calibri" pitchFamily="34" charset="-122"/>
                <a:cs typeface="Calibri" pitchFamily="34" charset="-120"/>
              </a:rPr>
              <a:t>The LLM sits only at the bottom layer and only for optional explanation text — never in the numerical computation path.</a:t>
            </a:r>
            <a:endParaRPr lang="en-US" sz="1200" dirty="0"/>
          </a:p>
        </p:txBody>
      </p:sp>
      <p:sp>
        <p:nvSpPr>
          <p:cNvPr id="23"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Performance Metrics</a:t>
            </a:r>
            <a:endParaRPr lang="en-US" sz="3000" dirty="0"/>
          </a:p>
        </p:txBody>
      </p:sp>
      <p:sp>
        <p:nvSpPr>
          <p:cNvPr id="3" name="Text 1"/>
          <p:cNvSpPr txBox="1"/>
          <p:nvPr/>
        </p:nvSpPr>
        <p:spPr>
          <a:xfrm>
            <a:off x="640080" y="1417320"/>
            <a:ext cx="5212080" cy="320040"/>
          </a:xfrm>
          <a:prstGeom prst="rect">
            <a:avLst/>
          </a:prstGeom>
          <a:noFill/>
          <a:ln/>
        </p:spPr>
        <p:txBody>
          <a:bodyPr wrap="square"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Classification metrics used</a:t>
            </a:r>
            <a:endParaRPr lang="en-US" sz="1500" dirty="0"/>
          </a:p>
        </p:txBody>
      </p:sp>
      <p:sp>
        <p:nvSpPr>
          <p:cNvPr id="4" name="Text 2"/>
          <p:cNvSpPr txBox="1"/>
          <p:nvPr/>
        </p:nvSpPr>
        <p:spPr>
          <a:xfrm>
            <a:off x="640080" y="1828800"/>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Accuracy: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 of predictions exactly right</a:t>
            </a:r>
            <a:endParaRPr lang="en-US" sz="1250" dirty="0"/>
          </a:p>
        </p:txBody>
      </p:sp>
      <p:sp>
        <p:nvSpPr>
          <p:cNvPr id="5" name="Text 3"/>
          <p:cNvSpPr txBox="1"/>
          <p:nvPr/>
        </p:nvSpPr>
        <p:spPr>
          <a:xfrm>
            <a:off x="640080" y="2359152"/>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Precision: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Of predicted positives, % actually positive</a:t>
            </a:r>
            <a:endParaRPr lang="en-US" sz="1250" dirty="0"/>
          </a:p>
        </p:txBody>
      </p:sp>
      <p:sp>
        <p:nvSpPr>
          <p:cNvPr id="6" name="Text 4"/>
          <p:cNvSpPr txBox="1"/>
          <p:nvPr/>
        </p:nvSpPr>
        <p:spPr>
          <a:xfrm>
            <a:off x="640080" y="2889504"/>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Recall: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Of actual positives, % correctly caught</a:t>
            </a:r>
            <a:endParaRPr lang="en-US" sz="1250" dirty="0"/>
          </a:p>
        </p:txBody>
      </p:sp>
      <p:sp>
        <p:nvSpPr>
          <p:cNvPr id="7" name="Text 5"/>
          <p:cNvSpPr txBox="1"/>
          <p:nvPr/>
        </p:nvSpPr>
        <p:spPr>
          <a:xfrm>
            <a:off x="640080" y="3419856"/>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F1 Score: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Harmonic mean of precision &amp; recall</a:t>
            </a:r>
            <a:endParaRPr lang="en-US" sz="1250" dirty="0"/>
          </a:p>
        </p:txBody>
      </p:sp>
      <p:sp>
        <p:nvSpPr>
          <p:cNvPr id="8" name="Text 6"/>
          <p:cNvSpPr txBox="1"/>
          <p:nvPr/>
        </p:nvSpPr>
        <p:spPr>
          <a:xfrm>
            <a:off x="640080" y="3950208"/>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ROC-AUC: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Ability to rank positives above negatives</a:t>
            </a:r>
            <a:endParaRPr lang="en-US" sz="1250" dirty="0"/>
          </a:p>
        </p:txBody>
      </p:sp>
      <p:sp>
        <p:nvSpPr>
          <p:cNvPr id="9" name="Text 7"/>
          <p:cNvSpPr txBox="1"/>
          <p:nvPr/>
        </p:nvSpPr>
        <p:spPr>
          <a:xfrm>
            <a:off x="6309360" y="1417320"/>
            <a:ext cx="5212080" cy="320040"/>
          </a:xfrm>
          <a:prstGeom prst="rect">
            <a:avLst/>
          </a:prstGeom>
          <a:noFill/>
          <a:ln/>
        </p:spPr>
        <p:txBody>
          <a:bodyPr wrap="square"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Regression metrics used</a:t>
            </a:r>
            <a:endParaRPr lang="en-US" sz="1500" dirty="0"/>
          </a:p>
        </p:txBody>
      </p:sp>
      <p:sp>
        <p:nvSpPr>
          <p:cNvPr id="10" name="Text 8"/>
          <p:cNvSpPr txBox="1"/>
          <p:nvPr/>
        </p:nvSpPr>
        <p:spPr>
          <a:xfrm>
            <a:off x="6309360" y="1828800"/>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MAE: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Average absolute prediction error</a:t>
            </a:r>
            <a:endParaRPr lang="en-US" sz="1250" dirty="0"/>
          </a:p>
        </p:txBody>
      </p:sp>
      <p:sp>
        <p:nvSpPr>
          <p:cNvPr id="11" name="Text 9"/>
          <p:cNvSpPr txBox="1"/>
          <p:nvPr/>
        </p:nvSpPr>
        <p:spPr>
          <a:xfrm>
            <a:off x="6309360" y="2359152"/>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MSE / RMSE: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Penalizes larger errors more heavily</a:t>
            </a:r>
            <a:endParaRPr lang="en-US" sz="1250" dirty="0"/>
          </a:p>
        </p:txBody>
      </p:sp>
      <p:sp>
        <p:nvSpPr>
          <p:cNvPr id="12" name="Text 10"/>
          <p:cNvSpPr txBox="1"/>
          <p:nvPr/>
        </p:nvSpPr>
        <p:spPr>
          <a:xfrm>
            <a:off x="6309360" y="2889504"/>
            <a:ext cx="5212080" cy="502920"/>
          </a:xfrm>
          <a:prstGeom prst="rect">
            <a:avLst/>
          </a:prstGeom>
          <a:noFill/>
          <a:ln/>
        </p:spPr>
        <p:txBody>
          <a:bodyPr wrap="square"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R²:  </a:t>
            </a:r>
            <a:pPr indent="0" marL="0">
              <a:lnSpc>
                <a:spcPts val="1600"/>
              </a:lnSpc>
              <a:buNone/>
            </a:pPr>
            <a:r>
              <a:rPr lang="en-US" sz="1250" dirty="0">
                <a:solidFill>
                  <a:srgbClr val="8B92B3"/>
                </a:solidFill>
                <a:latin typeface="Calibri" pitchFamily="34" charset="0"/>
                <a:ea typeface="Calibri" pitchFamily="34" charset="-122"/>
                <a:cs typeface="Calibri" pitchFamily="34" charset="-120"/>
              </a:rPr>
              <a:t>Share of variance explained by the model</a:t>
            </a:r>
            <a:endParaRPr lang="en-US" sz="1250" dirty="0"/>
          </a:p>
        </p:txBody>
      </p:sp>
      <p:sp>
        <p:nvSpPr>
          <p:cNvPr id="13" name="Text 11"/>
          <p:cNvSpPr txBox="1"/>
          <p:nvPr/>
        </p:nvSpPr>
        <p:spPr>
          <a:xfrm>
            <a:off x="6309360" y="4023360"/>
            <a:ext cx="5212080" cy="320040"/>
          </a:xfrm>
          <a:prstGeom prst="rect">
            <a:avLst/>
          </a:prstGeom>
          <a:noFill/>
          <a:ln/>
        </p:spPr>
        <p:txBody>
          <a:bodyPr wrap="square"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Engineering verification (this build)</a:t>
            </a:r>
            <a:endParaRPr lang="en-US" sz="1500" dirty="0"/>
          </a:p>
        </p:txBody>
      </p:sp>
      <p:sp>
        <p:nvSpPr>
          <p:cNvPr id="14" name="Shape 12"/>
          <p:cNvSpPr/>
          <p:nvPr/>
        </p:nvSpPr>
        <p:spPr>
          <a:xfrm>
            <a:off x="6309360" y="4434840"/>
            <a:ext cx="5212080" cy="548640"/>
          </a:xfrm>
          <a:prstGeom prst="rect">
            <a:avLst/>
          </a:prstGeom>
          <a:solidFill>
            <a:srgbClr val="F2F3FA"/>
          </a:solidFill>
          <a:ln/>
        </p:spPr>
      </p:sp>
      <p:sp>
        <p:nvSpPr>
          <p:cNvPr id="15" name="Text 13"/>
          <p:cNvSpPr txBox="1"/>
          <p:nvPr/>
        </p:nvSpPr>
        <p:spPr>
          <a:xfrm>
            <a:off x="6446520" y="4434840"/>
            <a:ext cx="1188720" cy="548640"/>
          </a:xfrm>
          <a:prstGeom prst="rect">
            <a:avLst/>
          </a:prstGeom>
          <a:noFill/>
          <a:ln/>
        </p:spPr>
        <p:txBody>
          <a:bodyPr wrap="square" rtlCol="0" anchor="ctr"/>
          <a:lstStyle/>
          <a:p>
            <a:pPr indent="0" marL="0">
              <a:buNone/>
            </a:pPr>
            <a:r>
              <a:rPr lang="en-US" sz="1700" b="1" dirty="0">
                <a:solidFill>
                  <a:srgbClr val="16A34A"/>
                </a:solidFill>
                <a:latin typeface="Cambria" pitchFamily="34" charset="0"/>
                <a:ea typeface="Cambria" pitchFamily="34" charset="-122"/>
                <a:cs typeface="Cambria" pitchFamily="34" charset="-120"/>
              </a:rPr>
              <a:t>25 / 25</a:t>
            </a:r>
            <a:endParaRPr lang="en-US" sz="1700" dirty="0"/>
          </a:p>
        </p:txBody>
      </p:sp>
      <p:sp>
        <p:nvSpPr>
          <p:cNvPr id="16" name="Text 14"/>
          <p:cNvSpPr txBox="1"/>
          <p:nvPr/>
        </p:nvSpPr>
        <p:spPr>
          <a:xfrm>
            <a:off x="7680960" y="4434840"/>
            <a:ext cx="3749040" cy="548640"/>
          </a:xfrm>
          <a:prstGeom prst="rect">
            <a:avLst/>
          </a:prstGeom>
          <a:noFill/>
          <a:ln/>
        </p:spPr>
        <p:txBody>
          <a:bodyPr wrap="square" rtlCol="0" anchor="ctr"/>
          <a:lstStyle/>
          <a:p>
            <a:pPr indent="0" marL="0">
              <a:buNone/>
            </a:pPr>
            <a:r>
              <a:rPr lang="en-US" sz="1200" dirty="0">
                <a:solidFill>
                  <a:srgbClr val="1A1F36"/>
                </a:solidFill>
                <a:latin typeface="Calibri" pitchFamily="34" charset="0"/>
                <a:ea typeface="Calibri" pitchFamily="34" charset="-122"/>
                <a:cs typeface="Calibri" pitchFamily="34" charset="-120"/>
              </a:rPr>
              <a:t>pytest tests passing</a:t>
            </a:r>
            <a:endParaRPr lang="en-US" sz="1200" dirty="0"/>
          </a:p>
        </p:txBody>
      </p:sp>
      <p:sp>
        <p:nvSpPr>
          <p:cNvPr id="17" name="Shape 15"/>
          <p:cNvSpPr/>
          <p:nvPr/>
        </p:nvSpPr>
        <p:spPr>
          <a:xfrm>
            <a:off x="6309360" y="5074920"/>
            <a:ext cx="5212080" cy="548640"/>
          </a:xfrm>
          <a:prstGeom prst="rect">
            <a:avLst/>
          </a:prstGeom>
          <a:solidFill>
            <a:srgbClr val="F2F3FA"/>
          </a:solidFill>
          <a:ln/>
        </p:spPr>
      </p:sp>
      <p:sp>
        <p:nvSpPr>
          <p:cNvPr id="18" name="Text 16"/>
          <p:cNvSpPr txBox="1"/>
          <p:nvPr/>
        </p:nvSpPr>
        <p:spPr>
          <a:xfrm>
            <a:off x="6446520" y="5074920"/>
            <a:ext cx="1188720" cy="548640"/>
          </a:xfrm>
          <a:prstGeom prst="rect">
            <a:avLst/>
          </a:prstGeom>
          <a:noFill/>
          <a:ln/>
        </p:spPr>
        <p:txBody>
          <a:bodyPr wrap="square" rtlCol="0" anchor="ctr"/>
          <a:lstStyle/>
          <a:p>
            <a:pPr indent="0" marL="0">
              <a:buNone/>
            </a:pPr>
            <a:r>
              <a:rPr lang="en-US" sz="1700" b="1" dirty="0">
                <a:solidFill>
                  <a:srgbClr val="16A34A"/>
                </a:solidFill>
                <a:latin typeface="Cambria" pitchFamily="34" charset="0"/>
                <a:ea typeface="Cambria" pitchFamily="34" charset="-122"/>
                <a:cs typeface="Cambria" pitchFamily="34" charset="-120"/>
              </a:rPr>
              <a:t>0</a:t>
            </a:r>
            <a:endParaRPr lang="en-US" sz="1700" dirty="0"/>
          </a:p>
        </p:txBody>
      </p:sp>
      <p:sp>
        <p:nvSpPr>
          <p:cNvPr id="19" name="Text 17"/>
          <p:cNvSpPr txBox="1"/>
          <p:nvPr/>
        </p:nvSpPr>
        <p:spPr>
          <a:xfrm>
            <a:off x="7680960" y="5074920"/>
            <a:ext cx="3749040" cy="548640"/>
          </a:xfrm>
          <a:prstGeom prst="rect">
            <a:avLst/>
          </a:prstGeom>
          <a:noFill/>
          <a:ln/>
        </p:spPr>
        <p:txBody>
          <a:bodyPr wrap="square" rtlCol="0" anchor="ctr"/>
          <a:lstStyle/>
          <a:p>
            <a:pPr indent="0" marL="0">
              <a:buNone/>
            </a:pPr>
            <a:r>
              <a:rPr lang="en-US" sz="1200" dirty="0">
                <a:solidFill>
                  <a:srgbClr val="1A1F36"/>
                </a:solidFill>
                <a:latin typeface="Calibri" pitchFamily="34" charset="0"/>
                <a:ea typeface="Calibri" pitchFamily="34" charset="-122"/>
                <a:cs typeface="Calibri" pitchFamily="34" charset="-120"/>
              </a:rPr>
              <a:t>TypeScript build errors</a:t>
            </a:r>
            <a:endParaRPr lang="en-US" sz="1200" dirty="0"/>
          </a:p>
        </p:txBody>
      </p:sp>
      <p:sp>
        <p:nvSpPr>
          <p:cNvPr id="20" name="Shape 18"/>
          <p:cNvSpPr/>
          <p:nvPr/>
        </p:nvSpPr>
        <p:spPr>
          <a:xfrm>
            <a:off x="6309360" y="5715000"/>
            <a:ext cx="5212080" cy="548640"/>
          </a:xfrm>
          <a:prstGeom prst="rect">
            <a:avLst/>
          </a:prstGeom>
          <a:solidFill>
            <a:srgbClr val="F2F3FA"/>
          </a:solidFill>
          <a:ln/>
        </p:spPr>
      </p:sp>
      <p:sp>
        <p:nvSpPr>
          <p:cNvPr id="21" name="Text 19"/>
          <p:cNvSpPr txBox="1"/>
          <p:nvPr/>
        </p:nvSpPr>
        <p:spPr>
          <a:xfrm>
            <a:off x="6446520" y="5715000"/>
            <a:ext cx="1188720" cy="548640"/>
          </a:xfrm>
          <a:prstGeom prst="rect">
            <a:avLst/>
          </a:prstGeom>
          <a:noFill/>
          <a:ln/>
        </p:spPr>
        <p:txBody>
          <a:bodyPr wrap="square" rtlCol="0" anchor="ctr"/>
          <a:lstStyle/>
          <a:p>
            <a:pPr indent="0" marL="0">
              <a:buNone/>
            </a:pPr>
            <a:r>
              <a:rPr lang="en-US" sz="1700" b="1" dirty="0">
                <a:solidFill>
                  <a:srgbClr val="16A34A"/>
                </a:solidFill>
                <a:latin typeface="Cambria" pitchFamily="34" charset="0"/>
                <a:ea typeface="Cambria" pitchFamily="34" charset="-122"/>
                <a:cs typeface="Cambria" pitchFamily="34" charset="-120"/>
              </a:rPr>
              <a:t>13</a:t>
            </a:r>
            <a:endParaRPr lang="en-US" sz="1700" dirty="0"/>
          </a:p>
        </p:txBody>
      </p:sp>
      <p:sp>
        <p:nvSpPr>
          <p:cNvPr id="22" name="Text 20"/>
          <p:cNvSpPr txBox="1"/>
          <p:nvPr/>
        </p:nvSpPr>
        <p:spPr>
          <a:xfrm>
            <a:off x="7680960" y="5715000"/>
            <a:ext cx="3749040" cy="548640"/>
          </a:xfrm>
          <a:prstGeom prst="rect">
            <a:avLst/>
          </a:prstGeom>
          <a:noFill/>
          <a:ln/>
        </p:spPr>
        <p:txBody>
          <a:bodyPr wrap="square" rtlCol="0" anchor="ctr"/>
          <a:lstStyle/>
          <a:p>
            <a:pPr indent="0" marL="0">
              <a:buNone/>
            </a:pPr>
            <a:r>
              <a:rPr lang="en-US" sz="1200" dirty="0">
                <a:solidFill>
                  <a:srgbClr val="1A1F36"/>
                </a:solidFill>
                <a:latin typeface="Calibri" pitchFamily="34" charset="0"/>
                <a:ea typeface="Calibri" pitchFamily="34" charset="-122"/>
                <a:cs typeface="Calibri" pitchFamily="34" charset="-120"/>
              </a:rPr>
              <a:t>dangerous SQL statements blocked</a:t>
            </a:r>
            <a:endParaRPr lang="en-US" sz="1200" dirty="0"/>
          </a:p>
        </p:txBody>
      </p:sp>
      <p:sp>
        <p:nvSpPr>
          <p:cNvPr id="23"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Results</a:t>
            </a:r>
            <a:endParaRPr lang="en-US" sz="3000" dirty="0"/>
          </a:p>
        </p:txBody>
      </p:sp>
      <p:sp>
        <p:nvSpPr>
          <p:cNvPr id="3" name="Text 1"/>
          <p:cNvSpPr txBox="1"/>
          <p:nvPr/>
        </p:nvSpPr>
        <p:spPr>
          <a:xfrm>
            <a:off x="640080" y="1417320"/>
            <a:ext cx="10881360" cy="365760"/>
          </a:xfrm>
          <a:prstGeom prst="rect">
            <a:avLst/>
          </a:prstGeom>
          <a:noFill/>
          <a:ln/>
        </p:spPr>
        <p:txBody>
          <a:bodyPr wrap="square" rtlCol="0" anchor="ctr"/>
          <a:lstStyle/>
          <a:p>
            <a:pPr indent="0" marL="0">
              <a:buNone/>
            </a:pPr>
            <a:r>
              <a:rPr lang="en-US" sz="1300" i="1" dirty="0">
                <a:solidFill>
                  <a:srgbClr val="8B92B3"/>
                </a:solidFill>
                <a:latin typeface="Calibri" pitchFamily="34" charset="0"/>
                <a:ea typeface="Calibri" pitchFamily="34" charset="-122"/>
                <a:cs typeface="Calibri" pitchFamily="34" charset="-120"/>
              </a:rPr>
              <a:t>Model comparison — churn prediction on the sample customer dataset (250 rows, 80/20 split)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3200400"/>
                <a:gridCol w="1536192"/>
                <a:gridCol w="1536192"/>
                <a:gridCol w="1536192"/>
                <a:gridCol w="1536192"/>
                <a:gridCol w="1536192"/>
              </a:tblGrid>
              <a:tr h="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1A1F3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1A1F3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1A1F3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1A1F3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1A1F3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1A1F36"/>
                    </a:solidFill>
                  </a:tcPr>
                </a:tc>
              </a:tr>
              <a:tr h="0">
                <a:tc>
                  <a:txBody>
                    <a:bodyPr/>
                    <a:lstStyle/>
                    <a:p>
                      <a:pPr algn="ctr" indent="0" marL="0">
                        <a:buNone/>
                      </a:pPr>
                      <a:r>
                        <a:rPr lang="en-US" sz="1200" b="1" dirty="0">
                          <a:solidFill>
                            <a:srgbClr val="4F46E5"/>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EEF0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EEF0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EEF0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EEF0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EEF0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0.83</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EEF0FF"/>
                    </a:solidFill>
                  </a:tcPr>
                </a:tc>
              </a:tr>
              <a:tr h="0">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0.64</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0.67</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0.64</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0.65</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r>
              <a:tr h="0">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KNN</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0.63</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2F3FA"/>
                    </a:solidFill>
                  </a:tcPr>
                </a:tc>
              </a:tr>
              <a:tr h="0">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0.73</a:t>
                      </a:r>
                      <a:endParaRPr lang="en-US" sz="1200" dirty="0">
                        <a:latin typeface="Calibri" charset="0"/>
                        <a:ea typeface="Calibri" charset="0"/>
                        <a:cs typeface="Calibri" charset="0"/>
                      </a:endParaRPr>
                    </a:p>
                  </a:txBody>
                  <a:tcPr marL="91440" marR="91440" marT="45720" marB="45720" anchor="ctr">
                    <a:lnL w="9525" cap="flat" cmpd="sng" algn="ctr">
                      <a:solidFill>
                        <a:srgbClr val="E3E6E4"/>
                      </a:solidFill>
                      <a:prstDash val="solid"/>
                      <a:round/>
                      <a:headEnd type="none" w="med" len="med"/>
                      <a:tailEnd type="none" w="med" len="med"/>
                    </a:lnL>
                    <a:lnR w="9525" cap="flat" cmpd="sng" algn="ctr">
                      <a:solidFill>
                        <a:srgbClr val="E3E6E4"/>
                      </a:solidFill>
                      <a:prstDash val="solid"/>
                      <a:round/>
                      <a:headEnd type="none" w="med" len="med"/>
                      <a:tailEnd type="none" w="med" len="med"/>
                    </a:lnR>
                    <a:lnT w="9525" cap="flat" cmpd="sng" algn="ctr">
                      <a:solidFill>
                        <a:srgbClr val="E3E6E4"/>
                      </a:solidFill>
                      <a:prstDash val="solid"/>
                      <a:round/>
                      <a:headEnd type="none" w="med" len="med"/>
                      <a:tailEnd type="none" w="med" len="med"/>
                    </a:lnT>
                    <a:lnB w="9525" cap="flat" cmpd="sng" algn="ctr">
                      <a:solidFill>
                        <a:srgbClr val="E3E6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4846320"/>
            <a:ext cx="5303520" cy="320040"/>
          </a:xfrm>
          <a:prstGeom prst="rect">
            <a:avLst/>
          </a:prstGeom>
          <a:noFill/>
          <a:ln/>
        </p:spPr>
        <p:txBody>
          <a:bodyPr wrap="square"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Top churn drivers (feature importance, Logistic Regression)</a:t>
            </a:r>
            <a:endParaRPr lang="en-US" sz="1400" dirty="0"/>
          </a:p>
        </p:txBody>
      </p:sp>
      <p:sp>
        <p:nvSpPr>
          <p:cNvPr id="6" name="Text 3"/>
          <p:cNvSpPr txBox="1"/>
          <p:nvPr/>
        </p:nvSpPr>
        <p:spPr>
          <a:xfrm>
            <a:off x="640080" y="5193792"/>
            <a:ext cx="5303520" cy="1188720"/>
          </a:xfrm>
          <a:prstGeom prst="rect">
            <a:avLst/>
          </a:prstGeom>
          <a:noFill/>
          <a:ln/>
        </p:spPr>
        <p:txBody>
          <a:bodyPr wrap="square" rtlCol="0" anchor="ctr"/>
          <a:lstStyle/>
          <a:p>
            <a:pPr indent="0" marL="0">
              <a:lnSpc>
                <a:spcPts val="1800"/>
              </a:lnSpc>
              <a:buNone/>
            </a:pPr>
            <a:r>
              <a:rPr lang="en-US" sz="1250" dirty="0">
                <a:solidFill>
                  <a:srgbClr val="1A1F36"/>
                </a:solidFill>
                <a:latin typeface="Calibri" pitchFamily="34" charset="0"/>
                <a:ea typeface="Calibri" pitchFamily="34" charset="-122"/>
                <a:cs typeface="Calibri" pitchFamily="34" charset="-120"/>
              </a:rPr>
              <a:t>Contract type (month-to-month) was the strongest predictor of churn, followed by payment method and internet service type — consistent with industry intuition that customers without a long-term contract churn more easily.</a:t>
            </a:r>
            <a:endParaRPr lang="en-US" sz="1250" dirty="0"/>
          </a:p>
        </p:txBody>
      </p:sp>
      <p:sp>
        <p:nvSpPr>
          <p:cNvPr id="7" name="Shape 4"/>
          <p:cNvSpPr/>
          <p:nvPr/>
        </p:nvSpPr>
        <p:spPr>
          <a:xfrm>
            <a:off x="6309360" y="4846320"/>
            <a:ext cx="5212080" cy="1508760"/>
          </a:xfrm>
          <a:prstGeom prst="roundRect">
            <a:avLst>
              <a:gd name="adj" fmla="val 4848"/>
            </a:avLst>
          </a:prstGeom>
          <a:solidFill>
            <a:srgbClr val="EEF0FF"/>
          </a:solidFill>
          <a:ln/>
        </p:spPr>
      </p:sp>
      <p:sp>
        <p:nvSpPr>
          <p:cNvPr id="8" name="Text 5"/>
          <p:cNvSpPr txBox="1"/>
          <p:nvPr/>
        </p:nvSpPr>
        <p:spPr>
          <a:xfrm>
            <a:off x="6492240" y="4983480"/>
            <a:ext cx="4846320" cy="1234440"/>
          </a:xfrm>
          <a:prstGeom prst="rect">
            <a:avLst/>
          </a:prstGeom>
          <a:noFill/>
          <a:ln/>
        </p:spPr>
        <p:txBody>
          <a:bodyPr wrap="square" rtlCol="0" anchor="ctr"/>
          <a:lstStyle/>
          <a:p>
            <a:pPr indent="0" marL="0">
              <a:lnSpc>
                <a:spcPts val="2200"/>
              </a:lnSpc>
              <a:buNone/>
            </a:pPr>
            <a:r>
              <a:rPr lang="en-US" sz="1400" b="1" dirty="0">
                <a:solidFill>
                  <a:srgbClr val="4F46E5"/>
                </a:solidFill>
                <a:latin typeface="Calibri" pitchFamily="34" charset="0"/>
                <a:ea typeface="Calibri" pitchFamily="34" charset="-122"/>
                <a:cs typeface="Calibri" pitchFamily="34" charset="-120"/>
              </a:rPr>
              <a:t>Best model: Logistic Regression</a:t>
            </a:r>
            <a:endParaRPr lang="en-US" sz="1400" dirty="0"/>
          </a:p>
          <a:p>
            <a:pPr indent="0" marL="0">
              <a:lnSpc>
                <a:spcPts val="2200"/>
              </a:lnSpc>
              <a:buNone/>
            </a:pPr>
            <a:r>
              <a:rPr lang="en-US" sz="1400" b="1" dirty="0">
                <a:solidFill>
                  <a:srgbClr val="4F46E5"/>
                </a:solidFill>
                <a:latin typeface="Calibri" pitchFamily="34" charset="0"/>
                <a:ea typeface="Calibri" pitchFamily="34" charset="-122"/>
                <a:cs typeface="Calibri" pitchFamily="34" charset="-120"/>
              </a:rPr>
              <a:t>74% accuracy · 0.83 ROC-AUC</a:t>
            </a:r>
            <a:endParaRPr lang="en-US" sz="1400" dirty="0"/>
          </a:p>
        </p:txBody>
      </p:sp>
      <p:sp>
        <p:nvSpPr>
          <p:cNvPr id="9"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Conclusion</a:t>
            </a:r>
            <a:endParaRPr lang="en-US" sz="3000" dirty="0"/>
          </a:p>
        </p:txBody>
      </p:sp>
      <p:sp>
        <p:nvSpPr>
          <p:cNvPr id="3" name="Text 1"/>
          <p:cNvSpPr txBox="1"/>
          <p:nvPr/>
        </p:nvSpPr>
        <p:spPr>
          <a:xfrm>
            <a:off x="640080" y="1463040"/>
            <a:ext cx="5212080" cy="320040"/>
          </a:xfrm>
          <a:prstGeom prst="rect">
            <a:avLst/>
          </a:prstGeom>
          <a:noFill/>
          <a:ln/>
        </p:spPr>
        <p:txBody>
          <a:bodyPr wrap="square" rtlCol="0" anchor="ctr"/>
          <a:lstStyle/>
          <a:p>
            <a:pPr indent="0" marL="0">
              <a:buNone/>
            </a:pPr>
            <a:r>
              <a:rPr lang="en-US" sz="1600" b="1" dirty="0">
                <a:solidFill>
                  <a:srgbClr val="16A34A"/>
                </a:solidFill>
                <a:latin typeface="Calibri" pitchFamily="34" charset="0"/>
                <a:ea typeface="Calibri" pitchFamily="34" charset="-122"/>
                <a:cs typeface="Calibri" pitchFamily="34" charset="-120"/>
              </a:rPr>
              <a:t>What was achieved</a:t>
            </a:r>
            <a:endParaRPr lang="en-US" sz="1600" dirty="0"/>
          </a:p>
        </p:txBody>
      </p:sp>
      <p:sp>
        <p:nvSpPr>
          <p:cNvPr id="4" name="Text 2"/>
          <p:cNvSpPr txBox="1"/>
          <p:nvPr/>
        </p:nvSpPr>
        <p:spPr>
          <a:xfrm>
            <a:off x="640080" y="187452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A complete, tested, working application covering upload → profile → clean → explore → ask → SQL → train → compare → explain → predict → report</a:t>
            </a:r>
            <a:endParaRPr lang="en-US" sz="1250" dirty="0"/>
          </a:p>
        </p:txBody>
      </p:sp>
      <p:sp>
        <p:nvSpPr>
          <p:cNvPr id="5" name="Text 3"/>
          <p:cNvSpPr txBox="1"/>
          <p:nvPr/>
        </p:nvSpPr>
        <p:spPr>
          <a:xfrm>
            <a:off x="640080" y="274320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Deterministic analytics core (Pandas/NumPy/scikit-learn) with AI used only for language, never numbers</a:t>
            </a:r>
            <a:endParaRPr lang="en-US" sz="1250" dirty="0"/>
          </a:p>
        </p:txBody>
      </p:sp>
      <p:sp>
        <p:nvSpPr>
          <p:cNvPr id="6" name="Text 4"/>
          <p:cNvSpPr txBox="1"/>
          <p:nvPr/>
        </p:nvSpPr>
        <p:spPr>
          <a:xfrm>
            <a:off x="640080" y="361188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Guarded SQL execution (read-only allowlist) verified against 13 destructive statement types</a:t>
            </a:r>
            <a:endParaRPr lang="en-US" sz="1250" dirty="0"/>
          </a:p>
        </p:txBody>
      </p:sp>
      <p:sp>
        <p:nvSpPr>
          <p:cNvPr id="7" name="Text 5"/>
          <p:cNvSpPr txBox="1"/>
          <p:nvPr/>
        </p:nvSpPr>
        <p:spPr>
          <a:xfrm>
            <a:off x="640080" y="448056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25/25 backend tests passing; frontend builds with zero TypeScript errors</a:t>
            </a:r>
            <a:endParaRPr lang="en-US" sz="1250" dirty="0"/>
          </a:p>
        </p:txBody>
      </p:sp>
      <p:sp>
        <p:nvSpPr>
          <p:cNvPr id="8" name="Text 6"/>
          <p:cNvSpPr txBox="1"/>
          <p:nvPr/>
        </p:nvSpPr>
        <p:spPr>
          <a:xfrm>
            <a:off x="6309360" y="1463040"/>
            <a:ext cx="5212080" cy="320040"/>
          </a:xfrm>
          <a:prstGeom prst="rect">
            <a:avLst/>
          </a:prstGeom>
          <a:noFill/>
          <a:ln/>
        </p:spPr>
        <p:txBody>
          <a:bodyPr wrap="square" rtlCol="0" anchor="ctr"/>
          <a:lstStyle/>
          <a:p>
            <a:pPr indent="0" marL="0">
              <a:buNone/>
            </a:pPr>
            <a:r>
              <a:rPr lang="en-US" sz="1600" b="1" dirty="0">
                <a:solidFill>
                  <a:srgbClr val="C2410C"/>
                </a:solidFill>
                <a:latin typeface="Calibri" pitchFamily="34" charset="0"/>
                <a:ea typeface="Calibri" pitchFamily="34" charset="-122"/>
                <a:cs typeface="Calibri" pitchFamily="34" charset="-120"/>
              </a:rPr>
              <a:t>Future scope</a:t>
            </a:r>
            <a:endParaRPr lang="en-US" sz="1600" dirty="0"/>
          </a:p>
        </p:txBody>
      </p:sp>
      <p:sp>
        <p:nvSpPr>
          <p:cNvPr id="9" name="Text 7"/>
          <p:cNvSpPr txBox="1"/>
          <p:nvPr/>
        </p:nvSpPr>
        <p:spPr>
          <a:xfrm>
            <a:off x="6309360" y="187452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SHAP-based deep explainability for richer feature-impact analysis</a:t>
            </a:r>
            <a:endParaRPr lang="en-US" sz="1250" dirty="0"/>
          </a:p>
        </p:txBody>
      </p:sp>
      <p:sp>
        <p:nvSpPr>
          <p:cNvPr id="10" name="Text 8"/>
          <p:cNvSpPr txBox="1"/>
          <p:nvPr/>
        </p:nvSpPr>
        <p:spPr>
          <a:xfrm>
            <a:off x="6309360" y="274320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Multi-user accounts and role-based access</a:t>
            </a:r>
            <a:endParaRPr lang="en-US" sz="1250" dirty="0"/>
          </a:p>
        </p:txBody>
      </p:sp>
      <p:sp>
        <p:nvSpPr>
          <p:cNvPr id="11" name="Text 9"/>
          <p:cNvSpPr txBox="1"/>
          <p:nvPr/>
        </p:nvSpPr>
        <p:spPr>
          <a:xfrm>
            <a:off x="6309360" y="361188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Streaming / chunked ingestion for very large datasets</a:t>
            </a:r>
            <a:endParaRPr lang="en-US" sz="1250" dirty="0"/>
          </a:p>
        </p:txBody>
      </p:sp>
      <p:sp>
        <p:nvSpPr>
          <p:cNvPr id="12" name="Text 10"/>
          <p:cNvSpPr txBox="1"/>
          <p:nvPr/>
        </p:nvSpPr>
        <p:spPr>
          <a:xfrm>
            <a:off x="6309360" y="4480560"/>
            <a:ext cx="5212080" cy="777240"/>
          </a:xfrm>
          <a:prstGeom prst="rect">
            <a:avLst/>
          </a:prstGeom>
          <a:noFill/>
          <a:ln/>
        </p:spPr>
        <p:txBody>
          <a:bodyPr wrap="square"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 Deep learning model support for unstructured data</a:t>
            </a:r>
            <a:endParaRPr lang="en-US" sz="1250" dirty="0"/>
          </a:p>
        </p:txBody>
      </p:sp>
      <p:sp>
        <p:nvSpPr>
          <p:cNvPr id="13" name="Shape 11"/>
          <p:cNvSpPr/>
          <p:nvPr/>
        </p:nvSpPr>
        <p:spPr>
          <a:xfrm>
            <a:off x="640080" y="5394960"/>
            <a:ext cx="10881360" cy="868680"/>
          </a:xfrm>
          <a:prstGeom prst="roundRect">
            <a:avLst>
              <a:gd name="adj" fmla="val 8421"/>
            </a:avLst>
          </a:prstGeom>
          <a:solidFill>
            <a:srgbClr val="1A1F36"/>
          </a:solidFill>
          <a:ln/>
        </p:spPr>
      </p:sp>
      <p:sp>
        <p:nvSpPr>
          <p:cNvPr id="14" name="Text 12"/>
          <p:cNvSpPr txBox="1"/>
          <p:nvPr/>
        </p:nvSpPr>
        <p:spPr>
          <a:xfrm>
            <a:off x="914400" y="5394960"/>
            <a:ext cx="10332720" cy="868680"/>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This internship delivered a deterministic analytics and ML engine with an AI layer used only for explanation and language — not a chatbot wrapper.</a:t>
            </a:r>
            <a:endParaRPr lang="en-US" sz="1350" dirty="0"/>
          </a:p>
        </p:txBody>
      </p:sp>
      <p:sp>
        <p:nvSpPr>
          <p:cNvPr id="15"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t"/>
          <a:lstStyle/>
          <a:p>
            <a:pPr algn="l" indent="0" marL="0">
              <a:buNone/>
            </a:pPr>
            <a:r>
              <a:rPr lang="en-US" sz="3000" b="1" dirty="0">
                <a:solidFill>
                  <a:srgbClr val="1A1F36"/>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640080" y="1417320"/>
            <a:ext cx="4572000" cy="320040"/>
          </a:xfrm>
          <a:prstGeom prst="rect">
            <a:avLst/>
          </a:prstGeom>
          <a:noFill/>
          <a:ln/>
        </p:spPr>
        <p:txBody>
          <a:bodyPr wrap="square" rtlCol="0" anchor="ctr"/>
          <a:lstStyle/>
          <a:p>
            <a:pPr indent="0" marL="0">
              <a:buNone/>
            </a:pPr>
            <a:r>
              <a:rPr lang="en-US" sz="1300" i="1" dirty="0">
                <a:solidFill>
                  <a:srgbClr val="8B92B3"/>
                </a:solidFill>
                <a:latin typeface="Calibri" pitchFamily="34" charset="0"/>
                <a:ea typeface="Calibri" pitchFamily="34" charset="-122"/>
                <a:cs typeface="Calibri" pitchFamily="34" charset="-120"/>
              </a:rPr>
              <a:t>IEEE Format</a:t>
            </a:r>
            <a:endParaRPr lang="en-US" sz="1300" dirty="0"/>
          </a:p>
        </p:txBody>
      </p:sp>
      <p:sp>
        <p:nvSpPr>
          <p:cNvPr id="4" name="Text 2"/>
          <p:cNvSpPr txBox="1"/>
          <p:nvPr/>
        </p:nvSpPr>
        <p:spPr>
          <a:xfrm>
            <a:off x="640080" y="1828800"/>
            <a:ext cx="10881360" cy="530352"/>
          </a:xfrm>
          <a:prstGeom prst="rect">
            <a:avLst/>
          </a:prstGeom>
          <a:noFill/>
          <a:ln/>
        </p:spPr>
        <p:txBody>
          <a:bodyPr wrap="square" rtlCol="0" anchor="ctr"/>
          <a:lstStyle/>
          <a:p>
            <a:pPr indent="0" marL="0">
              <a:lnSpc>
                <a:spcPts val="1500"/>
              </a:lnSpc>
              <a:buNone/>
            </a:pPr>
            <a:r>
              <a:rPr lang="en-US" sz="1200" dirty="0">
                <a:solidFill>
                  <a:srgbClr val="1A1F36"/>
                </a:solidFill>
                <a:latin typeface="Calibri" pitchFamily="34" charset="0"/>
                <a:ea typeface="Calibri" pitchFamily="34" charset="-122"/>
                <a:cs typeface="Calibri" pitchFamily="34" charset="-120"/>
              </a:rPr>
              <a:t>[1]  F. Pedregosa et al., “Scikit-learn: Machine Learning in Python,” Journal of Machine Learning Research, vol. 12, pp. 2825–2830, 2011.</a:t>
            </a:r>
            <a:endParaRPr lang="en-US" sz="1200" dirty="0"/>
          </a:p>
        </p:txBody>
      </p:sp>
      <p:sp>
        <p:nvSpPr>
          <p:cNvPr id="5" name="Text 3"/>
          <p:cNvSpPr txBox="1"/>
          <p:nvPr/>
        </p:nvSpPr>
        <p:spPr>
          <a:xfrm>
            <a:off x="640080" y="2395728"/>
            <a:ext cx="10881360" cy="530352"/>
          </a:xfrm>
          <a:prstGeom prst="rect">
            <a:avLst/>
          </a:prstGeom>
          <a:noFill/>
          <a:ln/>
        </p:spPr>
        <p:txBody>
          <a:bodyPr wrap="square" rtlCol="0" anchor="ctr"/>
          <a:lstStyle/>
          <a:p>
            <a:pPr indent="0" marL="0">
              <a:lnSpc>
                <a:spcPts val="1500"/>
              </a:lnSpc>
              <a:buNone/>
            </a:pPr>
            <a:r>
              <a:rPr lang="en-US" sz="1200" dirty="0">
                <a:solidFill>
                  <a:srgbClr val="1A1F36"/>
                </a:solidFill>
                <a:latin typeface="Calibri" pitchFamily="34" charset="0"/>
                <a:ea typeface="Calibri" pitchFamily="34" charset="-122"/>
                <a:cs typeface="Calibri" pitchFamily="34" charset="-120"/>
              </a:rPr>
              <a:t>[2]  W. McKinney, “Data Structures for Statistical Computing in Python,” in Proc. 9th Python in Science Conf. (SciPy), 2010, pp. 56–61.</a:t>
            </a:r>
            <a:endParaRPr lang="en-US" sz="1200" dirty="0"/>
          </a:p>
        </p:txBody>
      </p:sp>
      <p:sp>
        <p:nvSpPr>
          <p:cNvPr id="6" name="Text 4"/>
          <p:cNvSpPr txBox="1"/>
          <p:nvPr/>
        </p:nvSpPr>
        <p:spPr>
          <a:xfrm>
            <a:off x="640080" y="2962656"/>
            <a:ext cx="10881360" cy="530352"/>
          </a:xfrm>
          <a:prstGeom prst="rect">
            <a:avLst/>
          </a:prstGeom>
          <a:noFill/>
          <a:ln/>
        </p:spPr>
        <p:txBody>
          <a:bodyPr wrap="square" rtlCol="0" anchor="ctr"/>
          <a:lstStyle/>
          <a:p>
            <a:pPr indent="0" marL="0">
              <a:lnSpc>
                <a:spcPts val="1500"/>
              </a:lnSpc>
              <a:buNone/>
            </a:pPr>
            <a:r>
              <a:rPr lang="en-US" sz="1200" dirty="0">
                <a:solidFill>
                  <a:srgbClr val="1A1F36"/>
                </a:solidFill>
                <a:latin typeface="Calibri" pitchFamily="34" charset="0"/>
                <a:ea typeface="Calibri" pitchFamily="34" charset="-122"/>
                <a:cs typeface="Calibri" pitchFamily="34" charset="-120"/>
              </a:rPr>
              <a:t>[3]  S. M. Lundberg and S.-I. Lee, “A Unified Approach to Interpreting Model Predictions,” in Advances in Neural Information Processing Systems (NeurIPS), vol. 30, 2017.</a:t>
            </a:r>
            <a:endParaRPr lang="en-US" sz="1200" dirty="0"/>
          </a:p>
        </p:txBody>
      </p:sp>
      <p:sp>
        <p:nvSpPr>
          <p:cNvPr id="7" name="Text 5"/>
          <p:cNvSpPr txBox="1"/>
          <p:nvPr/>
        </p:nvSpPr>
        <p:spPr>
          <a:xfrm>
            <a:off x="640080" y="3529584"/>
            <a:ext cx="10881360" cy="530352"/>
          </a:xfrm>
          <a:prstGeom prst="rect">
            <a:avLst/>
          </a:prstGeom>
          <a:noFill/>
          <a:ln/>
        </p:spPr>
        <p:txBody>
          <a:bodyPr wrap="square" rtlCol="0" anchor="ctr"/>
          <a:lstStyle/>
          <a:p>
            <a:pPr indent="0" marL="0">
              <a:lnSpc>
                <a:spcPts val="1500"/>
              </a:lnSpc>
              <a:buNone/>
            </a:pPr>
            <a:r>
              <a:rPr lang="en-US" sz="1200" dirty="0">
                <a:solidFill>
                  <a:srgbClr val="1A1F36"/>
                </a:solidFill>
                <a:latin typeface="Calibri" pitchFamily="34" charset="0"/>
                <a:ea typeface="Calibri" pitchFamily="34" charset="-122"/>
                <a:cs typeface="Calibri" pitchFamily="34" charset="-120"/>
              </a:rPr>
              <a:t>[4]  FastAPI Documentation, Sebastián Ramírez, [Online]. Available: https://fastapi.tiangolo.com. [Accessed: Sept. 2026].</a:t>
            </a:r>
            <a:endParaRPr lang="en-US" sz="1200" dirty="0"/>
          </a:p>
        </p:txBody>
      </p:sp>
      <p:sp>
        <p:nvSpPr>
          <p:cNvPr id="8" name="Text 6"/>
          <p:cNvSpPr txBox="1"/>
          <p:nvPr/>
        </p:nvSpPr>
        <p:spPr>
          <a:xfrm>
            <a:off x="640080" y="4096512"/>
            <a:ext cx="10881360" cy="530352"/>
          </a:xfrm>
          <a:prstGeom prst="rect">
            <a:avLst/>
          </a:prstGeom>
          <a:noFill/>
          <a:ln/>
        </p:spPr>
        <p:txBody>
          <a:bodyPr wrap="square" rtlCol="0" anchor="ctr"/>
          <a:lstStyle/>
          <a:p>
            <a:pPr indent="0" marL="0">
              <a:lnSpc>
                <a:spcPts val="1500"/>
              </a:lnSpc>
              <a:buNone/>
            </a:pPr>
            <a:r>
              <a:rPr lang="en-US" sz="1200" dirty="0">
                <a:solidFill>
                  <a:srgbClr val="1A1F36"/>
                </a:solidFill>
                <a:latin typeface="Calibri" pitchFamily="34" charset="0"/>
                <a:ea typeface="Calibri" pitchFamily="34" charset="-122"/>
                <a:cs typeface="Calibri" pitchFamily="34" charset="-120"/>
              </a:rPr>
              <a:t>[5]  DuckDB Labs, “DuckDB: An Embeddable Analytical Database,” [Online]. Available: https://duckdb.org. [Accessed: Sept. 2026].</a:t>
            </a:r>
            <a:endParaRPr lang="en-US" sz="1200" dirty="0"/>
          </a:p>
        </p:txBody>
      </p:sp>
      <p:sp>
        <p:nvSpPr>
          <p:cNvPr id="9" name="Text 7"/>
          <p:cNvSpPr txBox="1"/>
          <p:nvPr/>
        </p:nvSpPr>
        <p:spPr>
          <a:xfrm>
            <a:off x="640080" y="4663440"/>
            <a:ext cx="10881360" cy="530352"/>
          </a:xfrm>
          <a:prstGeom prst="rect">
            <a:avLst/>
          </a:prstGeom>
          <a:noFill/>
          <a:ln/>
        </p:spPr>
        <p:txBody>
          <a:bodyPr wrap="square" rtlCol="0" anchor="ctr"/>
          <a:lstStyle/>
          <a:p>
            <a:pPr indent="0" marL="0">
              <a:lnSpc>
                <a:spcPts val="1500"/>
              </a:lnSpc>
              <a:buNone/>
            </a:pPr>
            <a:r>
              <a:rPr lang="en-US" sz="1200" dirty="0">
                <a:solidFill>
                  <a:srgbClr val="1A1F36"/>
                </a:solidFill>
                <a:latin typeface="Calibri" pitchFamily="34" charset="0"/>
                <a:ea typeface="Calibri" pitchFamily="34" charset="-122"/>
                <a:cs typeface="Calibri" pitchFamily="34" charset="-120"/>
              </a:rPr>
              <a:t>[6]  React Documentation, Meta Open Source, [Online]. Available: https://react.dev. [Accessed: Sept. 2026].</a:t>
            </a:r>
            <a:endParaRPr lang="en-US" sz="1200" dirty="0"/>
          </a:p>
        </p:txBody>
      </p:sp>
      <p:sp>
        <p:nvSpPr>
          <p:cNvPr id="10" name="Text 8"/>
          <p:cNvSpPr txBox="1"/>
          <p:nvPr/>
        </p:nvSpPr>
        <p:spPr>
          <a:xfrm>
            <a:off x="640080" y="5230368"/>
            <a:ext cx="10881360" cy="530352"/>
          </a:xfrm>
          <a:prstGeom prst="rect">
            <a:avLst/>
          </a:prstGeom>
          <a:noFill/>
          <a:ln/>
        </p:spPr>
        <p:txBody>
          <a:bodyPr wrap="square" rtlCol="0" anchor="ctr"/>
          <a:lstStyle/>
          <a:p>
            <a:pPr indent="0" marL="0">
              <a:lnSpc>
                <a:spcPts val="1500"/>
              </a:lnSpc>
              <a:buNone/>
            </a:pPr>
            <a:r>
              <a:rPr lang="en-US" sz="1200" dirty="0">
                <a:solidFill>
                  <a:srgbClr val="1A1F36"/>
                </a:solidFill>
                <a:latin typeface="Calibri" pitchFamily="34" charset="0"/>
                <a:ea typeface="Calibri" pitchFamily="34" charset="-122"/>
                <a:cs typeface="Calibri" pitchFamily="34" charset="-120"/>
              </a:rPr>
              <a:t>[7]  Anthropic, “Claude API Documentation,” [Online]. Available: https://docs.anthropic.com. [Accessed: Sept. 2026].</a:t>
            </a:r>
            <a:endParaRPr lang="en-US" sz="1200" dirty="0"/>
          </a:p>
        </p:txBody>
      </p:sp>
      <p:sp>
        <p:nvSpPr>
          <p:cNvPr id="11" name="Text 0"/>
          <p:cNvSpPr/>
          <p:nvPr>
            <p:ph idx="101" type="body" hasCustomPrompt="1"/>
          </p:nvPr>
        </p:nvSpPr>
        <p:spPr>
          <a:xfrm>
            <a:off x="640080" y="1417320"/>
            <a:ext cx="10881360" cy="507492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9728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B92B3"/>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32A4D"/>
          </a:solidFill>
          <a:ln/>
        </p:spPr>
      </p:sp>
      <p:sp>
        <p:nvSpPr>
          <p:cNvPr id="3" name="Text 1"/>
          <p:cNvSpPr txBox="1"/>
          <p:nvPr/>
        </p:nvSpPr>
        <p:spPr>
          <a:xfrm>
            <a:off x="822960" y="2651760"/>
            <a:ext cx="10058400" cy="11887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Text 2"/>
          <p:cNvSpPr txBox="1"/>
          <p:nvPr/>
        </p:nvSpPr>
        <p:spPr>
          <a:xfrm>
            <a:off x="822960" y="3657600"/>
            <a:ext cx="10058400" cy="548640"/>
          </a:xfrm>
          <a:prstGeom prst="rect">
            <a:avLst/>
          </a:prstGeom>
          <a:noFill/>
          <a:ln/>
        </p:spPr>
        <p:txBody>
          <a:bodyPr wrap="square" rtlCol="0" anchor="ctr"/>
          <a:lstStyle/>
          <a:p>
            <a:pPr indent="0" marL="0">
              <a:buNone/>
            </a:pPr>
            <a:r>
              <a:rPr lang="en-US" sz="2000" dirty="0">
                <a:solidFill>
                  <a:srgbClr val="A5B4FC"/>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0" y="5852160"/>
            <a:ext cx="12191695" cy="1005840"/>
          </a:xfrm>
          <a:prstGeom prst="rect">
            <a:avLst/>
          </a:prstGeom>
          <a:solidFill>
            <a:srgbClr val="151A2E"/>
          </a:solidFill>
          <a:ln/>
        </p:spPr>
      </p:sp>
      <p:sp>
        <p:nvSpPr>
          <p:cNvPr id="6" name="Text 4"/>
          <p:cNvSpPr txBox="1"/>
          <p:nvPr/>
        </p:nvSpPr>
        <p:spPr>
          <a:xfrm>
            <a:off x="822960" y="6126480"/>
            <a:ext cx="59436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Dunnapapagari Sarathkumar  |  25341D5803</a:t>
            </a:r>
            <a:endParaRPr lang="en-US" sz="1400" dirty="0"/>
          </a:p>
        </p:txBody>
      </p:sp>
      <p:sp>
        <p:nvSpPr>
          <p:cNvPr id="7" name="Text 5"/>
          <p:cNvSpPr txBox="1"/>
          <p:nvPr/>
        </p:nvSpPr>
        <p:spPr>
          <a:xfrm>
            <a:off x="6400800" y="6126480"/>
            <a:ext cx="5029200" cy="457200"/>
          </a:xfrm>
          <a:prstGeom prst="rect">
            <a:avLst/>
          </a:prstGeom>
          <a:noFill/>
          <a:ln/>
        </p:spPr>
        <p:txBody>
          <a:bodyPr wrap="square" rtlCol="0" anchor="ctr"/>
          <a:lstStyle/>
          <a:p>
            <a:pPr algn="r" indent="0" marL="0">
              <a:buNone/>
            </a:pPr>
            <a:r>
              <a:rPr lang="en-US" sz="1300" dirty="0">
                <a:solidFill>
                  <a:srgbClr val="8B92B3"/>
                </a:solidFill>
                <a:latin typeface="Calibri" pitchFamily="34" charset="0"/>
                <a:ea typeface="Calibri" pitchFamily="34" charset="-122"/>
                <a:cs typeface="Calibri" pitchFamily="34" charset="-120"/>
              </a:rPr>
              <a:t>Data Analyst + ML Agent — Recruitwire Services</a:t>
            </a:r>
            <a:endParaRPr lang="en-US" sz="1300" dirty="0"/>
          </a:p>
        </p:txBody>
      </p:sp>
      <p:sp>
        <p:nvSpPr>
          <p:cNvPr id="8" name="Text 0"/>
          <p:cNvSpPr/>
          <p:nvPr>
            <p:ph idx="100" type="title" hasCustomPrompt="1"/>
          </p:nvPr>
        </p:nvSpPr>
        <p:spPr>
          <a:xfrm>
            <a:off x="822960" y="2377440"/>
            <a:ext cx="10515600" cy="1828800"/>
          </a:xfrm>
          <a:prstGeom prst="rect">
            <a:avLst/>
          </a:prstGeom>
          <a:noFill/>
          <a:ln/>
        </p:spPr>
        <p:txBody>
          <a:bodyPr wrap="square" rtlCol="0" anchor="t"/>
          <a:lstStyle/>
          <a:p>
            <a:pPr algn="l" indent="0" marL="0">
              <a:buNone/>
            </a:pPr>
            <a:endParaRPr lang="en-US" sz="4400" dirty="0"/>
          </a:p>
        </p:txBody>
      </p:sp>
    </p:spTree>
  </p:cSld>
  <p:clrMapOvr>
    <a:masterClrMapping/>
  </p:clrMapOvr>
</p:sld>
</file>

<file path=ppt/theme/theme1.xml><?xml version="1.0" encoding="utf-8"?>
<a:theme xmlns:a="http://schemas.openxmlformats.org/drawingml/2006/main" name="GMR Institute">
  <a:themeElements>
    <a:clrScheme name="GMR Institute">
      <a:dk1>
        <a:srgbClr val="1A1F36"/>
      </a:dk1>
      <a:lt1>
        <a:srgbClr val="FFFFFF"/>
      </a:lt1>
      <a:dk2>
        <a:srgbClr val="2B3157"/>
      </a:dk2>
      <a:lt2>
        <a:srgbClr val="F2F3FA"/>
      </a:lt2>
      <a:accent1>
        <a:srgbClr val="4F46E5"/>
      </a:accent1>
      <a:accent2>
        <a:srgbClr val="16A34A"/>
      </a:accent2>
      <a:accent3>
        <a:srgbClr val="C2410C"/>
      </a:accent3>
      <a:accent4>
        <a:srgbClr val="A5B4FC"/>
      </a:accent4>
      <a:accent5>
        <a:srgbClr val="8B92B3"/>
      </a:accent5>
      <a:accent6>
        <a:srgbClr val="E3E6E4"/>
      </a:accent6>
      <a:hlink>
        <a:srgbClr val="4F46E5"/>
      </a:hlink>
      <a:folHlink>
        <a:srgbClr val="2B3157"/>
      </a:folHlink>
    </a:clrScheme>
    <a:fontScheme name="GMR Institu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GMR Institute of Technology, Rajam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Dunnapapagari Sarathkumar</dc:creator>
  <cp:lastModifiedBy>Dunnapapagari Sarathkumar</cp:lastModifiedBy>
  <cp:revision>1</cp:revision>
  <dcterms:created xsi:type="dcterms:W3CDTF">2026-10-08T17:22:22Z</dcterms:created>
  <dcterms:modified xsi:type="dcterms:W3CDTF">2026-10-08T17:22:22Z</dcterms:modified>
</cp:coreProperties>
</file>